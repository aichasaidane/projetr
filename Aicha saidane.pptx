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Fredoka" charset="1" panose="02000000000000000000"/>
      <p:regular r:id="rId29"/>
    </p:embeddedFont>
    <p:embeddedFont>
      <p:font typeface="Montserrat Bold Italics" charset="1" panose="00000800000000000000"/>
      <p:regular r:id="rId30"/>
    </p:embeddedFont>
    <p:embeddedFont>
      <p:font typeface="Montserrat Medium" charset="1" panose="00000600000000000000"/>
      <p:regular r:id="rId34"/>
    </p:embeddedFont>
    <p:embeddedFont>
      <p:font typeface="Montserrat" charset="1" panose="00000500000000000000"/>
      <p:regular r:id="rId35"/>
    </p:embeddedFont>
    <p:embeddedFont>
      <p:font typeface="Montserrat Bold" charset="1" panose="00000800000000000000"/>
      <p:regular r:id="rId39"/>
    </p:embeddedFont>
    <p:embeddedFont>
      <p:font typeface="Montserrat Semi-Bold" charset="1" panose="000007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Bonjour, je vais vous présenter mon projet portant sur l’analyse exploratoire des facteurs de risque de fausse couche chez les femmes enceintes.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Pour ce projet, j’ai utilisé un dataset public publié sur la plateforme Mendeley Data par Hiba Asri en 2021, qui regroupe différentes variables liées à la santé des femmes enceintes.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Pour ce projet, j’ai utilisé un dataset public publié sur la plateforme Mendeley Data par Hiba Asri en 2021, qui regroupe différentes variables liées à la santé des femmes enceintes.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Intérêt de cette étape</a:t>
            </a:r>
          </a:p>
          <a:p>
            <a:r>
              <a:rPr lang="en-US"/>
              <a:t/>
            </a:r>
          </a:p>
          <a:p>
            <a:r>
              <a:rPr lang="en-US"/>
              <a:t>Comprendre les tendances générales du dataset</a:t>
            </a:r>
          </a:p>
          <a:p>
            <a:r>
              <a:rPr lang="en-US"/>
              <a:t/>
            </a:r>
          </a:p>
          <a:p>
            <a:r>
              <a:rPr lang="en-US"/>
              <a:t>Détecter d’éventuelles anomalies ou déséquilibres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0">
            <a:off x="2373186" y="-882247"/>
            <a:ext cx="17240730" cy="14607600"/>
          </a:xfrm>
          <a:custGeom>
            <a:avLst/>
            <a:gdLst/>
            <a:ahLst/>
            <a:cxnLst/>
            <a:rect r="r" b="b" t="t" l="l"/>
            <a:pathLst>
              <a:path h="14607600" w="17240730">
                <a:moveTo>
                  <a:pt x="0" y="0"/>
                </a:moveTo>
                <a:lnTo>
                  <a:pt x="17240729" y="0"/>
                </a:lnTo>
                <a:lnTo>
                  <a:pt x="17240729" y="14607600"/>
                </a:lnTo>
                <a:lnTo>
                  <a:pt x="0" y="1460760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822958">
            <a:off x="7446216" y="-1175426"/>
            <a:ext cx="16072061" cy="11601106"/>
          </a:xfrm>
          <a:custGeom>
            <a:avLst/>
            <a:gdLst/>
            <a:ahLst/>
            <a:cxnLst/>
            <a:rect r="r" b="b" t="t" l="l"/>
            <a:pathLst>
              <a:path h="11601106" w="16072061">
                <a:moveTo>
                  <a:pt x="0" y="0"/>
                </a:moveTo>
                <a:lnTo>
                  <a:pt x="16072061" y="0"/>
                </a:lnTo>
                <a:lnTo>
                  <a:pt x="16072061" y="11601105"/>
                </a:lnTo>
                <a:lnTo>
                  <a:pt x="0" y="11601105"/>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319911" y="6213323"/>
            <a:ext cx="3050862" cy="1736218"/>
          </a:xfrm>
          <a:custGeom>
            <a:avLst/>
            <a:gdLst/>
            <a:ahLst/>
            <a:cxnLst/>
            <a:rect r="r" b="b" t="t" l="l"/>
            <a:pathLst>
              <a:path h="1736218" w="3050862">
                <a:moveTo>
                  <a:pt x="0" y="0"/>
                </a:moveTo>
                <a:lnTo>
                  <a:pt x="3050862" y="0"/>
                </a:lnTo>
                <a:lnTo>
                  <a:pt x="3050862" y="1736218"/>
                </a:lnTo>
                <a:lnTo>
                  <a:pt x="0" y="173621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1723187"/>
            <a:ext cx="8498111" cy="8980273"/>
          </a:xfrm>
          <a:custGeom>
            <a:avLst/>
            <a:gdLst/>
            <a:ahLst/>
            <a:cxnLst/>
            <a:rect r="r" b="b" t="t" l="l"/>
            <a:pathLst>
              <a:path h="8980273" w="8498111">
                <a:moveTo>
                  <a:pt x="0" y="0"/>
                </a:moveTo>
                <a:lnTo>
                  <a:pt x="8498111" y="0"/>
                </a:lnTo>
                <a:lnTo>
                  <a:pt x="8498111" y="8980273"/>
                </a:lnTo>
                <a:lnTo>
                  <a:pt x="0" y="89802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482246" y="1339742"/>
            <a:ext cx="1777054" cy="1444596"/>
          </a:xfrm>
          <a:custGeom>
            <a:avLst/>
            <a:gdLst/>
            <a:ahLst/>
            <a:cxnLst/>
            <a:rect r="r" b="b" t="t" l="l"/>
            <a:pathLst>
              <a:path h="1444596" w="1777054">
                <a:moveTo>
                  <a:pt x="0" y="0"/>
                </a:moveTo>
                <a:lnTo>
                  <a:pt x="1777054" y="0"/>
                </a:lnTo>
                <a:lnTo>
                  <a:pt x="1777054" y="1444596"/>
                </a:lnTo>
                <a:lnTo>
                  <a:pt x="0" y="14445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7922331" y="3584748"/>
            <a:ext cx="9991293" cy="1771016"/>
          </a:xfrm>
          <a:prstGeom prst="rect">
            <a:avLst/>
          </a:prstGeom>
        </p:spPr>
        <p:txBody>
          <a:bodyPr anchor="t" rtlCol="false" tIns="0" lIns="0" bIns="0" rIns="0">
            <a:spAutoFit/>
          </a:bodyPr>
          <a:lstStyle/>
          <a:p>
            <a:pPr algn="just">
              <a:lnSpc>
                <a:spcPts val="4759"/>
              </a:lnSpc>
            </a:pPr>
            <a:r>
              <a:rPr lang="en-US" sz="3399">
                <a:solidFill>
                  <a:srgbClr val="FBC0BB"/>
                </a:solidFill>
                <a:latin typeface="Fredoka"/>
                <a:ea typeface="Fredoka"/>
                <a:cs typeface="Fredoka"/>
                <a:sym typeface="Fredoka"/>
              </a:rPr>
              <a:t>FACTEURS DE RISQUE DE FAUSSE COUCHE (MISCARRIAGE) CHEZ LES FEMMES ENCEINTES.</a:t>
            </a:r>
          </a:p>
          <a:p>
            <a:pPr algn="just">
              <a:lnSpc>
                <a:spcPts val="4759"/>
              </a:lnSpc>
            </a:pPr>
          </a:p>
        </p:txBody>
      </p:sp>
      <p:sp>
        <p:nvSpPr>
          <p:cNvPr name="TextBox 8" id="8"/>
          <p:cNvSpPr txBox="true"/>
          <p:nvPr/>
        </p:nvSpPr>
        <p:spPr>
          <a:xfrm rot="0">
            <a:off x="13425244" y="8106283"/>
            <a:ext cx="4862756" cy="365760"/>
          </a:xfrm>
          <a:prstGeom prst="rect">
            <a:avLst/>
          </a:prstGeom>
        </p:spPr>
        <p:txBody>
          <a:bodyPr anchor="t" rtlCol="false" tIns="0" lIns="0" bIns="0" rIns="0">
            <a:spAutoFit/>
          </a:bodyPr>
          <a:lstStyle/>
          <a:p>
            <a:pPr algn="just">
              <a:lnSpc>
                <a:spcPts val="2940"/>
              </a:lnSpc>
            </a:pPr>
            <a:r>
              <a:rPr lang="en-US" sz="2100" spc="111">
                <a:solidFill>
                  <a:srgbClr val="FFFFFF"/>
                </a:solidFill>
                <a:latin typeface="Fredoka"/>
                <a:ea typeface="Fredoka"/>
                <a:cs typeface="Fredoka"/>
                <a:sym typeface="Fredoka"/>
              </a:rPr>
              <a:t>Réalisée par : Mme Aicha Saidane</a:t>
            </a:r>
          </a:p>
        </p:txBody>
      </p:sp>
      <p:sp>
        <p:nvSpPr>
          <p:cNvPr name="Freeform 9" id="9"/>
          <p:cNvSpPr/>
          <p:nvPr/>
        </p:nvSpPr>
        <p:spPr>
          <a:xfrm flipH="false" flipV="false" rot="0">
            <a:off x="1028700" y="753393"/>
            <a:ext cx="1704110" cy="969794"/>
          </a:xfrm>
          <a:custGeom>
            <a:avLst/>
            <a:gdLst/>
            <a:ahLst/>
            <a:cxnLst/>
            <a:rect r="r" b="b" t="t" l="l"/>
            <a:pathLst>
              <a:path h="969794" w="1704110">
                <a:moveTo>
                  <a:pt x="0" y="0"/>
                </a:moveTo>
                <a:lnTo>
                  <a:pt x="1704110" y="0"/>
                </a:lnTo>
                <a:lnTo>
                  <a:pt x="1704110" y="969794"/>
                </a:lnTo>
                <a:lnTo>
                  <a:pt x="0" y="969794"/>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7984165" y="8106283"/>
            <a:ext cx="5335745" cy="365760"/>
          </a:xfrm>
          <a:prstGeom prst="rect">
            <a:avLst/>
          </a:prstGeom>
        </p:spPr>
        <p:txBody>
          <a:bodyPr anchor="t" rtlCol="false" tIns="0" lIns="0" bIns="0" rIns="0">
            <a:spAutoFit/>
          </a:bodyPr>
          <a:lstStyle/>
          <a:p>
            <a:pPr algn="just">
              <a:lnSpc>
                <a:spcPts val="2940"/>
              </a:lnSpc>
            </a:pPr>
            <a:r>
              <a:rPr lang="en-US" sz="2100" spc="111">
                <a:solidFill>
                  <a:srgbClr val="FFFFFF"/>
                </a:solidFill>
                <a:latin typeface="Fredoka"/>
                <a:ea typeface="Fredoka"/>
                <a:cs typeface="Fredoka"/>
                <a:sym typeface="Fredoka"/>
              </a:rPr>
              <a:t>Encadré par : DR Khemais Abdallah</a:t>
            </a:r>
          </a:p>
        </p:txBody>
      </p:sp>
      <p:sp>
        <p:nvSpPr>
          <p:cNvPr name="TextBox 11" id="11"/>
          <p:cNvSpPr txBox="true"/>
          <p:nvPr/>
        </p:nvSpPr>
        <p:spPr>
          <a:xfrm rot="0">
            <a:off x="8829332" y="9534166"/>
            <a:ext cx="5128537" cy="481331"/>
          </a:xfrm>
          <a:prstGeom prst="rect">
            <a:avLst/>
          </a:prstGeom>
        </p:spPr>
        <p:txBody>
          <a:bodyPr anchor="t" rtlCol="false" tIns="0" lIns="0" bIns="0" rIns="0">
            <a:spAutoFit/>
          </a:bodyPr>
          <a:lstStyle/>
          <a:p>
            <a:pPr algn="just">
              <a:lnSpc>
                <a:spcPts val="3919"/>
              </a:lnSpc>
            </a:pPr>
            <a:r>
              <a:rPr lang="en-US" sz="2799">
                <a:solidFill>
                  <a:srgbClr val="FFFFFF"/>
                </a:solidFill>
                <a:latin typeface="Fredoka"/>
                <a:ea typeface="Fredoka"/>
                <a:cs typeface="Fredoka"/>
                <a:sym typeface="Fredoka"/>
              </a:rPr>
              <a:t>DATA SCIENCES&amp;IA G2</a:t>
            </a:r>
          </a:p>
        </p:txBody>
      </p:sp>
      <p:sp>
        <p:nvSpPr>
          <p:cNvPr name="TextBox 12" id="12"/>
          <p:cNvSpPr txBox="true"/>
          <p:nvPr/>
        </p:nvSpPr>
        <p:spPr>
          <a:xfrm rot="0">
            <a:off x="15856622" y="9534166"/>
            <a:ext cx="2322783" cy="570866"/>
          </a:xfrm>
          <a:prstGeom prst="rect">
            <a:avLst/>
          </a:prstGeom>
        </p:spPr>
        <p:txBody>
          <a:bodyPr anchor="t" rtlCol="false" tIns="0" lIns="0" bIns="0" rIns="0">
            <a:spAutoFit/>
          </a:bodyPr>
          <a:lstStyle/>
          <a:p>
            <a:pPr algn="just">
              <a:lnSpc>
                <a:spcPts val="4759"/>
              </a:lnSpc>
            </a:pPr>
            <a:r>
              <a:rPr lang="en-US" sz="3399">
                <a:solidFill>
                  <a:srgbClr val="FFFFFF"/>
                </a:solidFill>
                <a:latin typeface="Fredoka"/>
                <a:ea typeface="Fredoka"/>
                <a:cs typeface="Fredoka"/>
                <a:sym typeface="Fredoka"/>
              </a:rPr>
              <a:t>2025-2026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0">
            <a:off x="4272750" y="-1185886"/>
            <a:ext cx="17240730" cy="14607600"/>
          </a:xfrm>
          <a:custGeom>
            <a:avLst/>
            <a:gdLst/>
            <a:ahLst/>
            <a:cxnLst/>
            <a:rect r="r" b="b" t="t" l="l"/>
            <a:pathLst>
              <a:path h="14607600" w="17240730">
                <a:moveTo>
                  <a:pt x="0" y="0"/>
                </a:moveTo>
                <a:lnTo>
                  <a:pt x="17240730" y="0"/>
                </a:lnTo>
                <a:lnTo>
                  <a:pt x="17240730" y="14607600"/>
                </a:lnTo>
                <a:lnTo>
                  <a:pt x="0" y="1460760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22137">
            <a:off x="3114542" y="536167"/>
            <a:ext cx="16723353" cy="12071220"/>
          </a:xfrm>
          <a:custGeom>
            <a:avLst/>
            <a:gdLst/>
            <a:ahLst/>
            <a:cxnLst/>
            <a:rect r="r" b="b" t="t" l="l"/>
            <a:pathLst>
              <a:path h="12071220" w="16723353">
                <a:moveTo>
                  <a:pt x="0" y="0"/>
                </a:moveTo>
                <a:lnTo>
                  <a:pt x="16723353" y="0"/>
                </a:lnTo>
                <a:lnTo>
                  <a:pt x="16723353" y="12071220"/>
                </a:lnTo>
                <a:lnTo>
                  <a:pt x="0" y="12071220"/>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5073" y="2808768"/>
            <a:ext cx="8066398" cy="8155366"/>
          </a:xfrm>
          <a:custGeom>
            <a:avLst/>
            <a:gdLst/>
            <a:ahLst/>
            <a:cxnLst/>
            <a:rect r="r" b="b" t="t" l="l"/>
            <a:pathLst>
              <a:path h="8155366" w="8066398">
                <a:moveTo>
                  <a:pt x="0" y="0"/>
                </a:moveTo>
                <a:lnTo>
                  <a:pt x="8066398" y="0"/>
                </a:lnTo>
                <a:lnTo>
                  <a:pt x="8066398" y="8155366"/>
                </a:lnTo>
                <a:lnTo>
                  <a:pt x="0" y="81553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526930" y="876300"/>
            <a:ext cx="8732370" cy="1335405"/>
          </a:xfrm>
          <a:prstGeom prst="rect">
            <a:avLst/>
          </a:prstGeom>
        </p:spPr>
        <p:txBody>
          <a:bodyPr anchor="t" rtlCol="false" tIns="0" lIns="0" bIns="0" rIns="0">
            <a:spAutoFit/>
          </a:bodyPr>
          <a:lstStyle/>
          <a:p>
            <a:pPr algn="l">
              <a:lnSpc>
                <a:spcPts val="10919"/>
              </a:lnSpc>
            </a:pPr>
            <a:r>
              <a:rPr lang="en-US" sz="7800">
                <a:solidFill>
                  <a:srgbClr val="FFFFFF"/>
                </a:solidFill>
                <a:latin typeface="Fredoka"/>
                <a:ea typeface="Fredoka"/>
                <a:cs typeface="Fredoka"/>
                <a:sym typeface="Fredoka"/>
              </a:rPr>
              <a:t>Plan</a:t>
            </a:r>
          </a:p>
        </p:txBody>
      </p:sp>
      <p:sp>
        <p:nvSpPr>
          <p:cNvPr name="TextBox 6" id="6"/>
          <p:cNvSpPr txBox="true"/>
          <p:nvPr/>
        </p:nvSpPr>
        <p:spPr>
          <a:xfrm rot="0">
            <a:off x="7530059" y="2856393"/>
            <a:ext cx="9495369" cy="6194659"/>
          </a:xfrm>
          <a:prstGeom prst="rect">
            <a:avLst/>
          </a:prstGeom>
        </p:spPr>
        <p:txBody>
          <a:bodyPr anchor="t" rtlCol="false" tIns="0" lIns="0" bIns="0" rIns="0">
            <a:spAutoFit/>
          </a:bodyPr>
          <a:lstStyle/>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1. Contexte du projet</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2.Import des Librairies</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3. Dataset utilisé</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4. Prétraitement des Types &amp; Nettoyage</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5.Analyse Exploratoire Globale</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6.EDA Univariée - Variables Numériques</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7.EDA Univariée - Variables Catégorielles</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8.EDA Bivariée - Corrélations</a:t>
            </a:r>
          </a:p>
          <a:p>
            <a:pPr algn="just">
              <a:lnSpc>
                <a:spcPts val="2759"/>
              </a:lnSpc>
            </a:pPr>
          </a:p>
          <a:p>
            <a:pPr algn="just">
              <a:lnSpc>
                <a:spcPts val="2759"/>
              </a:lnSpc>
            </a:pPr>
            <a:r>
              <a:rPr lang="en-US" b="true" sz="2759" i="true">
                <a:solidFill>
                  <a:srgbClr val="FFFFFF"/>
                </a:solidFill>
                <a:latin typeface="Montserrat Bold Italics"/>
                <a:ea typeface="Montserrat Bold Italics"/>
                <a:cs typeface="Montserrat Bold Italics"/>
                <a:sym typeface="Montserrat Bold Italics"/>
              </a:rPr>
              <a:t>9.Conclusion</a:t>
            </a:r>
          </a:p>
          <a:p>
            <a:pPr algn="just">
              <a:lnSpc>
                <a:spcPts val="2759"/>
              </a:lnSpc>
            </a:pPr>
          </a:p>
        </p:txBody>
      </p:sp>
      <p:sp>
        <p:nvSpPr>
          <p:cNvPr name="Freeform 7" id="7"/>
          <p:cNvSpPr/>
          <p:nvPr/>
        </p:nvSpPr>
        <p:spPr>
          <a:xfrm flipH="false" flipV="false" rot="0">
            <a:off x="4641584" y="1489407"/>
            <a:ext cx="1777054" cy="1444596"/>
          </a:xfrm>
          <a:custGeom>
            <a:avLst/>
            <a:gdLst/>
            <a:ahLst/>
            <a:cxnLst/>
            <a:rect r="r" b="b" t="t" l="l"/>
            <a:pathLst>
              <a:path h="1444596" w="1777054">
                <a:moveTo>
                  <a:pt x="0" y="0"/>
                </a:moveTo>
                <a:lnTo>
                  <a:pt x="1777054" y="0"/>
                </a:lnTo>
                <a:lnTo>
                  <a:pt x="1777054" y="1444596"/>
                </a:lnTo>
                <a:lnTo>
                  <a:pt x="0" y="14445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27526" y="1028700"/>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8881467" y="593515"/>
            <a:ext cx="1574250" cy="895891"/>
          </a:xfrm>
          <a:custGeom>
            <a:avLst/>
            <a:gdLst/>
            <a:ahLst/>
            <a:cxnLst/>
            <a:rect r="r" b="b" t="t" l="l"/>
            <a:pathLst>
              <a:path h="895891" w="1574250">
                <a:moveTo>
                  <a:pt x="0" y="0"/>
                </a:moveTo>
                <a:lnTo>
                  <a:pt x="1574250" y="0"/>
                </a:lnTo>
                <a:lnTo>
                  <a:pt x="1574250" y="895892"/>
                </a:lnTo>
                <a:lnTo>
                  <a:pt x="0" y="895892"/>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7268802">
            <a:off x="-4816841" y="-2332895"/>
            <a:ext cx="19179332" cy="16250125"/>
          </a:xfrm>
          <a:custGeom>
            <a:avLst/>
            <a:gdLst/>
            <a:ahLst/>
            <a:cxnLst/>
            <a:rect r="r" b="b" t="t" l="l"/>
            <a:pathLst>
              <a:path h="16250125" w="19179332">
                <a:moveTo>
                  <a:pt x="0" y="0"/>
                </a:moveTo>
                <a:lnTo>
                  <a:pt x="19179332" y="0"/>
                </a:lnTo>
                <a:lnTo>
                  <a:pt x="19179332" y="16250125"/>
                </a:lnTo>
                <a:lnTo>
                  <a:pt x="0" y="16250125"/>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9991050">
            <a:off x="-4938072" y="-1206000"/>
            <a:ext cx="16723353" cy="12071220"/>
          </a:xfrm>
          <a:custGeom>
            <a:avLst/>
            <a:gdLst/>
            <a:ahLst/>
            <a:cxnLst/>
            <a:rect r="r" b="b" t="t" l="l"/>
            <a:pathLst>
              <a:path h="12071220" w="16723353">
                <a:moveTo>
                  <a:pt x="0" y="0"/>
                </a:moveTo>
                <a:lnTo>
                  <a:pt x="16723353" y="0"/>
                </a:lnTo>
                <a:lnTo>
                  <a:pt x="16723353" y="12071220"/>
                </a:lnTo>
                <a:lnTo>
                  <a:pt x="0" y="1207122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0879832" y="1686531"/>
            <a:ext cx="6813203" cy="8600469"/>
          </a:xfrm>
          <a:custGeom>
            <a:avLst/>
            <a:gdLst/>
            <a:ahLst/>
            <a:cxnLst/>
            <a:rect r="r" b="b" t="t" l="l"/>
            <a:pathLst>
              <a:path h="8600469" w="6813203">
                <a:moveTo>
                  <a:pt x="0" y="0"/>
                </a:moveTo>
                <a:lnTo>
                  <a:pt x="6813203" y="0"/>
                </a:lnTo>
                <a:lnTo>
                  <a:pt x="6813203" y="8600469"/>
                </a:lnTo>
                <a:lnTo>
                  <a:pt x="0" y="86004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527191" y="1319460"/>
            <a:ext cx="11031324" cy="1335405"/>
          </a:xfrm>
          <a:prstGeom prst="rect">
            <a:avLst/>
          </a:prstGeom>
        </p:spPr>
        <p:txBody>
          <a:bodyPr anchor="t" rtlCol="false" tIns="0" lIns="0" bIns="0" rIns="0">
            <a:spAutoFit/>
          </a:bodyPr>
          <a:lstStyle/>
          <a:p>
            <a:pPr algn="l" marL="1684020" indent="-842010" lvl="1">
              <a:lnSpc>
                <a:spcPts val="10919"/>
              </a:lnSpc>
              <a:buAutoNum type="arabicPeriod" startAt="1"/>
            </a:pPr>
            <a:r>
              <a:rPr lang="en-US" sz="7800">
                <a:solidFill>
                  <a:srgbClr val="FFFFFF"/>
                </a:solidFill>
                <a:latin typeface="Fredoka"/>
                <a:ea typeface="Fredoka"/>
                <a:cs typeface="Fredoka"/>
                <a:sym typeface="Fredoka"/>
              </a:rPr>
              <a:t>Contexte du projet</a:t>
            </a:r>
          </a:p>
        </p:txBody>
      </p:sp>
      <p:sp>
        <p:nvSpPr>
          <p:cNvPr name="TextBox 6" id="6"/>
          <p:cNvSpPr txBox="true"/>
          <p:nvPr/>
        </p:nvSpPr>
        <p:spPr>
          <a:xfrm rot="0">
            <a:off x="876521" y="3838553"/>
            <a:ext cx="10003311" cy="3589655"/>
          </a:xfrm>
          <a:prstGeom prst="rect">
            <a:avLst/>
          </a:prstGeom>
        </p:spPr>
        <p:txBody>
          <a:bodyPr anchor="t" rtlCol="false" tIns="0" lIns="0" bIns="0" rIns="0">
            <a:spAutoFit/>
          </a:bodyPr>
          <a:lstStyle/>
          <a:p>
            <a:pPr algn="just">
              <a:lnSpc>
                <a:spcPts val="3220"/>
              </a:lnSpc>
            </a:pPr>
            <a:r>
              <a:rPr lang="en-US" sz="2300" b="true">
                <a:solidFill>
                  <a:srgbClr val="FFFFFF"/>
                </a:solidFill>
                <a:latin typeface="Montserrat Medium"/>
                <a:ea typeface="Montserrat Medium"/>
                <a:cs typeface="Montserrat Medium"/>
                <a:sym typeface="Montserrat Medium"/>
              </a:rPr>
              <a:t>La fausse couche (miscarriage) est un problème de santé publique</a:t>
            </a:r>
          </a:p>
          <a:p>
            <a:pPr algn="just">
              <a:lnSpc>
                <a:spcPts val="3220"/>
              </a:lnSpc>
            </a:pPr>
            <a:r>
              <a:rPr lang="en-US" sz="2300" b="true">
                <a:solidFill>
                  <a:srgbClr val="FFFFFF"/>
                </a:solidFill>
                <a:latin typeface="Montserrat Medium"/>
                <a:ea typeface="Montserrat Medium"/>
                <a:cs typeface="Montserrat Medium"/>
                <a:sym typeface="Montserrat Medium"/>
              </a:rPr>
              <a:t>qui touche un grand nombre de femmes enceintes.</a:t>
            </a:r>
          </a:p>
          <a:p>
            <a:pPr algn="just">
              <a:lnSpc>
                <a:spcPts val="3220"/>
              </a:lnSpc>
            </a:pPr>
          </a:p>
          <a:p>
            <a:pPr algn="just">
              <a:lnSpc>
                <a:spcPts val="3220"/>
              </a:lnSpc>
            </a:pPr>
            <a:r>
              <a:rPr lang="en-US" sz="2300" b="true">
                <a:solidFill>
                  <a:srgbClr val="FFFFFF"/>
                </a:solidFill>
                <a:latin typeface="Montserrat Medium"/>
                <a:ea typeface="Montserrat Medium"/>
                <a:cs typeface="Montserrat Medium"/>
                <a:sym typeface="Montserrat Medium"/>
              </a:rPr>
              <a:t>Avec le développement des technologies de santé connectée (IoT)</a:t>
            </a:r>
          </a:p>
          <a:p>
            <a:pPr algn="just">
              <a:lnSpc>
                <a:spcPts val="3220"/>
              </a:lnSpc>
            </a:pPr>
            <a:r>
              <a:rPr lang="en-US" sz="2300" b="true">
                <a:solidFill>
                  <a:srgbClr val="FFFFFF"/>
                </a:solidFill>
                <a:latin typeface="Montserrat Medium"/>
                <a:ea typeface="Montserrat Medium"/>
                <a:cs typeface="Montserrat Medium"/>
                <a:sym typeface="Montserrat Medium"/>
              </a:rPr>
              <a:t>et des téléphones mobiles, il est désormais possible de collecter</a:t>
            </a:r>
          </a:p>
          <a:p>
            <a:pPr algn="just">
              <a:lnSpc>
                <a:spcPts val="3220"/>
              </a:lnSpc>
            </a:pPr>
            <a:r>
              <a:rPr lang="en-US" sz="2300" b="true">
                <a:solidFill>
                  <a:srgbClr val="FFFFFF"/>
                </a:solidFill>
                <a:latin typeface="Montserrat Medium"/>
                <a:ea typeface="Montserrat Medium"/>
                <a:cs typeface="Montserrat Medium"/>
                <a:sym typeface="Montserrat Medium"/>
              </a:rPr>
              <a:t>des données physiologiques et comportementales en continu.</a:t>
            </a:r>
          </a:p>
          <a:p>
            <a:pPr algn="just">
              <a:lnSpc>
                <a:spcPts val="3220"/>
              </a:lnSpc>
            </a:pPr>
          </a:p>
          <a:p>
            <a:pPr algn="just">
              <a:lnSpc>
                <a:spcPts val="3220"/>
              </a:lnSpc>
            </a:pPr>
            <a:r>
              <a:rPr lang="en-US" sz="2300" b="true">
                <a:solidFill>
                  <a:srgbClr val="FFFFFF"/>
                </a:solidFill>
                <a:latin typeface="Montserrat Medium"/>
                <a:ea typeface="Montserrat Medium"/>
                <a:cs typeface="Montserrat Medium"/>
                <a:sym typeface="Montserrat Medium"/>
              </a:rPr>
              <a:t>Ces données permettent d’analyser</a:t>
            </a:r>
            <a:r>
              <a:rPr lang="en-US" b="true" sz="2300" u="none">
                <a:solidFill>
                  <a:srgbClr val="FFFFFF"/>
                </a:solidFill>
                <a:latin typeface="Montserrat Medium"/>
                <a:ea typeface="Montserrat Medium"/>
                <a:cs typeface="Montserrat Medium"/>
                <a:sym typeface="Montserrat Medium"/>
              </a:rPr>
              <a:t> </a:t>
            </a:r>
            <a:r>
              <a:rPr lang="en-US" sz="2300" b="true">
                <a:solidFill>
                  <a:srgbClr val="FFFFFF"/>
                </a:solidFill>
                <a:latin typeface="Montserrat Medium"/>
                <a:ea typeface="Montserrat Medium"/>
                <a:cs typeface="Montserrat Medium"/>
                <a:sym typeface="Montserrat Medium"/>
              </a:rPr>
              <a:t>le</a:t>
            </a:r>
            <a:r>
              <a:rPr lang="en-US" b="true" sz="2300" u="none">
                <a:solidFill>
                  <a:srgbClr val="FFFFFF"/>
                </a:solidFill>
                <a:latin typeface="Montserrat Medium"/>
                <a:ea typeface="Montserrat Medium"/>
                <a:cs typeface="Montserrat Medium"/>
                <a:sym typeface="Montserrat Medium"/>
              </a:rPr>
              <a:t>s</a:t>
            </a:r>
            <a:r>
              <a:rPr lang="en-US" sz="2300" b="true">
                <a:solidFill>
                  <a:srgbClr val="FFFFFF"/>
                </a:solidFill>
                <a:latin typeface="Montserrat Medium"/>
                <a:ea typeface="Montserrat Medium"/>
                <a:cs typeface="Montserrat Medium"/>
                <a:sym typeface="Montserrat Medium"/>
              </a:rPr>
              <a:t> fa</a:t>
            </a:r>
            <a:r>
              <a:rPr lang="en-US" b="true" sz="2300" u="none">
                <a:solidFill>
                  <a:srgbClr val="FFFFFF"/>
                </a:solidFill>
                <a:latin typeface="Montserrat Medium"/>
                <a:ea typeface="Montserrat Medium"/>
                <a:cs typeface="Montserrat Medium"/>
                <a:sym typeface="Montserrat Medium"/>
              </a:rPr>
              <a:t>c</a:t>
            </a:r>
            <a:r>
              <a:rPr lang="en-US" sz="2300" b="true">
                <a:solidFill>
                  <a:srgbClr val="FFFFFF"/>
                </a:solidFill>
                <a:latin typeface="Montserrat Medium"/>
                <a:ea typeface="Montserrat Medium"/>
                <a:cs typeface="Montserrat Medium"/>
                <a:sym typeface="Montserrat Medium"/>
              </a:rPr>
              <a:t>teu</a:t>
            </a:r>
            <a:r>
              <a:rPr lang="en-US" b="true" sz="2300" u="none">
                <a:solidFill>
                  <a:srgbClr val="FFFFFF"/>
                </a:solidFill>
                <a:latin typeface="Montserrat Medium"/>
                <a:ea typeface="Montserrat Medium"/>
                <a:cs typeface="Montserrat Medium"/>
                <a:sym typeface="Montserrat Medium"/>
              </a:rPr>
              <a:t>r</a:t>
            </a:r>
            <a:r>
              <a:rPr lang="en-US" sz="2300" b="true">
                <a:solidFill>
                  <a:srgbClr val="FFFFFF"/>
                </a:solidFill>
                <a:latin typeface="Montserrat Medium"/>
                <a:ea typeface="Montserrat Medium"/>
                <a:cs typeface="Montserrat Medium"/>
                <a:sym typeface="Montserrat Medium"/>
              </a:rPr>
              <a:t>s d</a:t>
            </a:r>
            <a:r>
              <a:rPr lang="en-US" b="true" sz="2300" u="none">
                <a:solidFill>
                  <a:srgbClr val="FFFFFF"/>
                </a:solidFill>
                <a:latin typeface="Montserrat Medium"/>
                <a:ea typeface="Montserrat Medium"/>
                <a:cs typeface="Montserrat Medium"/>
                <a:sym typeface="Montserrat Medium"/>
              </a:rPr>
              <a:t>e ri</a:t>
            </a:r>
            <a:r>
              <a:rPr lang="en-US" sz="2300" b="true">
                <a:solidFill>
                  <a:srgbClr val="FFFFFF"/>
                </a:solidFill>
                <a:latin typeface="Montserrat Medium"/>
                <a:ea typeface="Montserrat Medium"/>
                <a:cs typeface="Montserrat Medium"/>
                <a:sym typeface="Montserrat Medium"/>
              </a:rPr>
              <a:t>sque</a:t>
            </a:r>
          </a:p>
          <a:p>
            <a:pPr algn="just">
              <a:lnSpc>
                <a:spcPts val="3220"/>
              </a:lnSpc>
            </a:pPr>
            <a:r>
              <a:rPr lang="en-US" sz="2300" b="true">
                <a:solidFill>
                  <a:srgbClr val="FFFFFF"/>
                </a:solidFill>
                <a:latin typeface="Montserrat Medium"/>
                <a:ea typeface="Montserrat Medium"/>
                <a:cs typeface="Montserrat Medium"/>
                <a:sym typeface="Montserrat Medium"/>
              </a:rPr>
              <a:t>l</a:t>
            </a:r>
            <a:r>
              <a:rPr lang="en-US" b="true" sz="2300" u="none">
                <a:solidFill>
                  <a:srgbClr val="FFFFFF"/>
                </a:solidFill>
                <a:latin typeface="Montserrat Medium"/>
                <a:ea typeface="Montserrat Medium"/>
                <a:cs typeface="Montserrat Medium"/>
                <a:sym typeface="Montserrat Medium"/>
              </a:rPr>
              <a:t>i</a:t>
            </a:r>
            <a:r>
              <a:rPr lang="en-US" sz="2300" b="true">
                <a:solidFill>
                  <a:srgbClr val="FFFFFF"/>
                </a:solidFill>
                <a:latin typeface="Montserrat Medium"/>
                <a:ea typeface="Montserrat Medium"/>
                <a:cs typeface="Montserrat Medium"/>
                <a:sym typeface="Montserrat Medium"/>
              </a:rPr>
              <a:t>é</a:t>
            </a:r>
            <a:r>
              <a:rPr lang="en-US" b="true" sz="2300" u="none">
                <a:solidFill>
                  <a:srgbClr val="FFFFFF"/>
                </a:solidFill>
                <a:latin typeface="Montserrat Medium"/>
                <a:ea typeface="Montserrat Medium"/>
                <a:cs typeface="Montserrat Medium"/>
                <a:sym typeface="Montserrat Medium"/>
              </a:rPr>
              <a:t>s</a:t>
            </a:r>
            <a:r>
              <a:rPr lang="en-US" sz="2300" b="true">
                <a:solidFill>
                  <a:srgbClr val="FFFFFF"/>
                </a:solidFill>
                <a:latin typeface="Montserrat Medium"/>
                <a:ea typeface="Montserrat Medium"/>
                <a:cs typeface="Montserrat Medium"/>
                <a:sym typeface="Montserrat Medium"/>
              </a:rPr>
              <a:t> à la</a:t>
            </a:r>
            <a:r>
              <a:rPr lang="en-US" b="true" sz="2300" u="none">
                <a:solidFill>
                  <a:srgbClr val="FFFFFF"/>
                </a:solidFill>
                <a:latin typeface="Montserrat Medium"/>
                <a:ea typeface="Montserrat Medium"/>
                <a:cs typeface="Montserrat Medium"/>
                <a:sym typeface="Montserrat Medium"/>
              </a:rPr>
              <a:t> </a:t>
            </a:r>
            <a:r>
              <a:rPr lang="en-US" sz="2300" b="true">
                <a:solidFill>
                  <a:srgbClr val="FFFFFF"/>
                </a:solidFill>
                <a:latin typeface="Montserrat Medium"/>
                <a:ea typeface="Montserrat Medium"/>
                <a:cs typeface="Montserrat Medium"/>
                <a:sym typeface="Montserrat Medium"/>
              </a:rPr>
              <a:t>f</a:t>
            </a:r>
            <a:r>
              <a:rPr lang="en-US" b="true" sz="2300" u="none">
                <a:solidFill>
                  <a:srgbClr val="FFFFFF"/>
                </a:solidFill>
                <a:latin typeface="Montserrat Medium"/>
                <a:ea typeface="Montserrat Medium"/>
                <a:cs typeface="Montserrat Medium"/>
                <a:sym typeface="Montserrat Medium"/>
              </a:rPr>
              <a:t>a</a:t>
            </a:r>
            <a:r>
              <a:rPr lang="en-US" sz="2300" b="true">
                <a:solidFill>
                  <a:srgbClr val="FFFFFF"/>
                </a:solidFill>
                <a:latin typeface="Montserrat Medium"/>
                <a:ea typeface="Montserrat Medium"/>
                <a:cs typeface="Montserrat Medium"/>
                <a:sym typeface="Montserrat Medium"/>
              </a:rPr>
              <a:t>us</a:t>
            </a:r>
            <a:r>
              <a:rPr lang="en-US" b="true" sz="2300" u="none">
                <a:solidFill>
                  <a:srgbClr val="FFFFFF"/>
                </a:solidFill>
                <a:latin typeface="Montserrat Medium"/>
                <a:ea typeface="Montserrat Medium"/>
                <a:cs typeface="Montserrat Medium"/>
                <a:sym typeface="Montserrat Medium"/>
              </a:rPr>
              <a:t>s</a:t>
            </a:r>
            <a:r>
              <a:rPr lang="en-US" sz="2300" b="true">
                <a:solidFill>
                  <a:srgbClr val="FFFFFF"/>
                </a:solidFill>
                <a:latin typeface="Montserrat Medium"/>
                <a:ea typeface="Montserrat Medium"/>
                <a:cs typeface="Montserrat Medium"/>
                <a:sym typeface="Montserrat Medium"/>
              </a:rPr>
              <a:t>e</a:t>
            </a:r>
            <a:r>
              <a:rPr lang="en-US" b="true" sz="2300" u="none">
                <a:solidFill>
                  <a:srgbClr val="FFFFFF"/>
                </a:solidFill>
                <a:latin typeface="Montserrat Medium"/>
                <a:ea typeface="Montserrat Medium"/>
                <a:cs typeface="Montserrat Medium"/>
                <a:sym typeface="Montserrat Medium"/>
              </a:rPr>
              <a:t> </a:t>
            </a:r>
            <a:r>
              <a:rPr lang="en-US" sz="2300" b="true">
                <a:solidFill>
                  <a:srgbClr val="FFFFFF"/>
                </a:solidFill>
                <a:latin typeface="Montserrat Medium"/>
                <a:ea typeface="Montserrat Medium"/>
                <a:cs typeface="Montserrat Medium"/>
                <a:sym typeface="Montserrat Medium"/>
              </a:rPr>
              <a:t>couche</a:t>
            </a:r>
            <a:r>
              <a:rPr lang="en-US" b="true" sz="2300" u="none">
                <a:solidFill>
                  <a:srgbClr val="FFFFFF"/>
                </a:solidFill>
                <a:latin typeface="Montserrat Medium"/>
                <a:ea typeface="Montserrat Medium"/>
                <a:cs typeface="Montserrat Medium"/>
                <a:sym typeface="Montserrat Medium"/>
              </a:rPr>
              <a:t> </a:t>
            </a:r>
            <a:r>
              <a:rPr lang="en-US" sz="2300" b="true">
                <a:solidFill>
                  <a:srgbClr val="FFFFFF"/>
                </a:solidFill>
                <a:latin typeface="Montserrat Medium"/>
                <a:ea typeface="Montserrat Medium"/>
                <a:cs typeface="Montserrat Medium"/>
                <a:sym typeface="Montserrat Medium"/>
              </a:rPr>
              <a:t>d</a:t>
            </a:r>
            <a:r>
              <a:rPr lang="en-US" b="true" sz="2300" u="none">
                <a:solidFill>
                  <a:srgbClr val="FFFFFF"/>
                </a:solidFill>
                <a:latin typeface="Montserrat Medium"/>
                <a:ea typeface="Montserrat Medium"/>
                <a:cs typeface="Montserrat Medium"/>
                <a:sym typeface="Montserrat Medium"/>
              </a:rPr>
              <a:t>e</a:t>
            </a:r>
            <a:r>
              <a:rPr lang="en-US" sz="2300" b="true">
                <a:solidFill>
                  <a:srgbClr val="FFFFFF"/>
                </a:solidFill>
                <a:latin typeface="Montserrat Medium"/>
                <a:ea typeface="Montserrat Medium"/>
                <a:cs typeface="Montserrat Medium"/>
                <a:sym typeface="Montserrat Medium"/>
              </a:rPr>
              <a:t> ma</a:t>
            </a:r>
            <a:r>
              <a:rPr lang="en-US" b="true" sz="2300" u="none">
                <a:solidFill>
                  <a:srgbClr val="FFFFFF"/>
                </a:solidFill>
                <a:latin typeface="Montserrat Medium"/>
                <a:ea typeface="Montserrat Medium"/>
                <a:cs typeface="Montserrat Medium"/>
                <a:sym typeface="Montserrat Medium"/>
              </a:rPr>
              <a:t>n</a:t>
            </a:r>
            <a:r>
              <a:rPr lang="en-US" sz="2300" b="true">
                <a:solidFill>
                  <a:srgbClr val="FFFFFF"/>
                </a:solidFill>
                <a:latin typeface="Montserrat Medium"/>
                <a:ea typeface="Montserrat Medium"/>
                <a:cs typeface="Montserrat Medium"/>
                <a:sym typeface="Montserrat Medium"/>
              </a:rPr>
              <a:t>ièr</a:t>
            </a:r>
            <a:r>
              <a:rPr lang="en-US" b="true" sz="2300" u="none">
                <a:solidFill>
                  <a:srgbClr val="FFFFFF"/>
                </a:solidFill>
                <a:latin typeface="Montserrat Medium"/>
                <a:ea typeface="Montserrat Medium"/>
                <a:cs typeface="Montserrat Medium"/>
                <a:sym typeface="Montserrat Medium"/>
              </a:rPr>
              <a:t>e</a:t>
            </a:r>
            <a:r>
              <a:rPr lang="en-US" sz="2300" b="true">
                <a:solidFill>
                  <a:srgbClr val="FFFFFF"/>
                </a:solidFill>
                <a:latin typeface="Montserrat Medium"/>
                <a:ea typeface="Montserrat Medium"/>
                <a:cs typeface="Montserrat Medium"/>
                <a:sym typeface="Montserrat Medium"/>
              </a:rPr>
              <a:t> p</a:t>
            </a:r>
            <a:r>
              <a:rPr lang="en-US" b="true" sz="2300" u="none">
                <a:solidFill>
                  <a:srgbClr val="FFFFFF"/>
                </a:solidFill>
                <a:latin typeface="Montserrat Medium"/>
                <a:ea typeface="Montserrat Medium"/>
                <a:cs typeface="Montserrat Medium"/>
                <a:sym typeface="Montserrat Medium"/>
              </a:rPr>
              <a:t>l</a:t>
            </a:r>
            <a:r>
              <a:rPr lang="en-US" sz="2300" b="true">
                <a:solidFill>
                  <a:srgbClr val="FFFFFF"/>
                </a:solidFill>
                <a:latin typeface="Montserrat Medium"/>
                <a:ea typeface="Montserrat Medium"/>
                <a:cs typeface="Montserrat Medium"/>
                <a:sym typeface="Montserrat Medium"/>
              </a:rPr>
              <a:t>us</a:t>
            </a:r>
            <a:r>
              <a:rPr lang="en-US" b="true" sz="2300" u="none">
                <a:solidFill>
                  <a:srgbClr val="FFFFFF"/>
                </a:solidFill>
                <a:latin typeface="Montserrat Medium"/>
                <a:ea typeface="Montserrat Medium"/>
                <a:cs typeface="Montserrat Medium"/>
                <a:sym typeface="Montserrat Medium"/>
              </a:rPr>
              <a:t> a</a:t>
            </a:r>
            <a:r>
              <a:rPr lang="en-US" sz="2300" b="true">
                <a:solidFill>
                  <a:srgbClr val="FFFFFF"/>
                </a:solidFill>
                <a:latin typeface="Montserrat Medium"/>
                <a:ea typeface="Montserrat Medium"/>
                <a:cs typeface="Montserrat Medium"/>
                <a:sym typeface="Montserrat Medium"/>
              </a:rPr>
              <a:t>pprofondie.</a:t>
            </a:r>
          </a:p>
        </p:txBody>
      </p:sp>
      <p:sp>
        <p:nvSpPr>
          <p:cNvPr name="Freeform 7" id="7"/>
          <p:cNvSpPr/>
          <p:nvPr/>
        </p:nvSpPr>
        <p:spPr>
          <a:xfrm flipH="false" flipV="false" rot="0">
            <a:off x="11558514" y="1471860"/>
            <a:ext cx="1777054" cy="1444596"/>
          </a:xfrm>
          <a:custGeom>
            <a:avLst/>
            <a:gdLst/>
            <a:ahLst/>
            <a:cxnLst/>
            <a:rect r="r" b="b" t="t" l="l"/>
            <a:pathLst>
              <a:path h="1444596" w="1777054">
                <a:moveTo>
                  <a:pt x="0" y="0"/>
                </a:moveTo>
                <a:lnTo>
                  <a:pt x="1777054" y="0"/>
                </a:lnTo>
                <a:lnTo>
                  <a:pt x="1777054" y="1444596"/>
                </a:lnTo>
                <a:lnTo>
                  <a:pt x="0" y="14445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6686699" y="74712"/>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11">
              <a:alphaModFix amt="54000"/>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5167162" y="9772650"/>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11">
              <a:alphaModFix amt="54000"/>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9987743">
            <a:off x="-5148051" y="-2289602"/>
            <a:ext cx="19179332" cy="16250125"/>
          </a:xfrm>
          <a:custGeom>
            <a:avLst/>
            <a:gdLst/>
            <a:ahLst/>
            <a:cxnLst/>
            <a:rect r="r" b="b" t="t" l="l"/>
            <a:pathLst>
              <a:path h="16250125" w="19179332">
                <a:moveTo>
                  <a:pt x="0" y="0"/>
                </a:moveTo>
                <a:lnTo>
                  <a:pt x="19179331" y="0"/>
                </a:lnTo>
                <a:lnTo>
                  <a:pt x="19179331" y="16250124"/>
                </a:lnTo>
                <a:lnTo>
                  <a:pt x="0" y="1625012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78541">
            <a:off x="-384244" y="-372707"/>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19225" y="1380267"/>
            <a:ext cx="12105589" cy="2538728"/>
          </a:xfrm>
          <a:prstGeom prst="rect">
            <a:avLst/>
          </a:prstGeom>
        </p:spPr>
        <p:txBody>
          <a:bodyPr anchor="t" rtlCol="false" tIns="0" lIns="0" bIns="0" rIns="0">
            <a:spAutoFit/>
          </a:bodyPr>
          <a:lstStyle/>
          <a:p>
            <a:pPr algn="l" marL="1576087" indent="-788044" lvl="1">
              <a:lnSpc>
                <a:spcPts val="10220"/>
              </a:lnSpc>
              <a:buAutoNum type="arabicPeriod" startAt="1"/>
            </a:pPr>
            <a:r>
              <a:rPr lang="en-US" sz="7300">
                <a:solidFill>
                  <a:srgbClr val="FFFFFF"/>
                </a:solidFill>
                <a:latin typeface="Fredoka"/>
                <a:ea typeface="Fredoka"/>
                <a:cs typeface="Fredoka"/>
                <a:sym typeface="Fredoka"/>
              </a:rPr>
              <a:t>Import des Librairies</a:t>
            </a:r>
          </a:p>
          <a:p>
            <a:pPr algn="l">
              <a:lnSpc>
                <a:spcPts val="10220"/>
              </a:lnSpc>
            </a:pPr>
          </a:p>
        </p:txBody>
      </p:sp>
      <p:sp>
        <p:nvSpPr>
          <p:cNvPr name="TextBox 5" id="5"/>
          <p:cNvSpPr txBox="true"/>
          <p:nvPr/>
        </p:nvSpPr>
        <p:spPr>
          <a:xfrm rot="0">
            <a:off x="1249191" y="3871370"/>
            <a:ext cx="8860894" cy="1623507"/>
          </a:xfrm>
          <a:prstGeom prst="rect">
            <a:avLst/>
          </a:prstGeom>
        </p:spPr>
        <p:txBody>
          <a:bodyPr anchor="t" rtlCol="false" tIns="0" lIns="0" bIns="0" rIns="0">
            <a:spAutoFit/>
          </a:bodyPr>
          <a:lstStyle/>
          <a:p>
            <a:pPr algn="just">
              <a:lnSpc>
                <a:spcPts val="3291"/>
              </a:lnSpc>
            </a:pPr>
            <a:r>
              <a:rPr lang="en-US" sz="2350">
                <a:solidFill>
                  <a:srgbClr val="FFFFFF"/>
                </a:solidFill>
                <a:latin typeface="Montserrat"/>
                <a:ea typeface="Montserrat"/>
                <a:cs typeface="Montserrat"/>
                <a:sym typeface="Montserrat"/>
              </a:rPr>
              <a:t>Dans cette étape, nous chargeons les librairies essentielles pour manipuler, résumer et visualiser nos données. Elles nous permettent de faire des analyses statistiques rapides et de visualiser facilement les relations entre les variables.</a:t>
            </a:r>
          </a:p>
        </p:txBody>
      </p:sp>
      <p:sp>
        <p:nvSpPr>
          <p:cNvPr name="Freeform 6" id="6"/>
          <p:cNvSpPr/>
          <p:nvPr/>
        </p:nvSpPr>
        <p:spPr>
          <a:xfrm flipH="false" flipV="false" rot="0">
            <a:off x="10326120" y="9258300"/>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26353" y="2512547"/>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24814" y="614030"/>
            <a:ext cx="1777054" cy="1444596"/>
          </a:xfrm>
          <a:custGeom>
            <a:avLst/>
            <a:gdLst/>
            <a:ahLst/>
            <a:cxnLst/>
            <a:rect r="r" b="b" t="t" l="l"/>
            <a:pathLst>
              <a:path h="1444596" w="1777054">
                <a:moveTo>
                  <a:pt x="0" y="0"/>
                </a:moveTo>
                <a:lnTo>
                  <a:pt x="1777054" y="0"/>
                </a:lnTo>
                <a:lnTo>
                  <a:pt x="1777054" y="1444597"/>
                </a:lnTo>
                <a:lnTo>
                  <a:pt x="0" y="14445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737974">
            <a:off x="4078647" y="-1036010"/>
            <a:ext cx="16723353" cy="12071220"/>
          </a:xfrm>
          <a:custGeom>
            <a:avLst/>
            <a:gdLst/>
            <a:ahLst/>
            <a:cxnLst/>
            <a:rect r="r" b="b" t="t" l="l"/>
            <a:pathLst>
              <a:path h="12071220" w="16723353">
                <a:moveTo>
                  <a:pt x="0" y="0"/>
                </a:moveTo>
                <a:lnTo>
                  <a:pt x="16723353" y="0"/>
                </a:lnTo>
                <a:lnTo>
                  <a:pt x="16723353" y="12071220"/>
                </a:lnTo>
                <a:lnTo>
                  <a:pt x="0" y="12071220"/>
                </a:lnTo>
                <a:lnTo>
                  <a:pt x="0" y="0"/>
                </a:lnTo>
                <a:close/>
              </a:path>
            </a:pathLst>
          </a:custGeom>
          <a:blipFill>
            <a:blip r:embed="rId3">
              <a:alphaModFix amt="35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819959" y="-1492094"/>
            <a:ext cx="17240730" cy="14607600"/>
          </a:xfrm>
          <a:custGeom>
            <a:avLst/>
            <a:gdLst/>
            <a:ahLst/>
            <a:cxnLst/>
            <a:rect r="r" b="b" t="t" l="l"/>
            <a:pathLst>
              <a:path h="14607600" w="17240730">
                <a:moveTo>
                  <a:pt x="0" y="0"/>
                </a:moveTo>
                <a:lnTo>
                  <a:pt x="17240729" y="0"/>
                </a:lnTo>
                <a:lnTo>
                  <a:pt x="17240729" y="14607600"/>
                </a:lnTo>
                <a:lnTo>
                  <a:pt x="0" y="14607600"/>
                </a:lnTo>
                <a:lnTo>
                  <a:pt x="0" y="0"/>
                </a:lnTo>
                <a:close/>
              </a:path>
            </a:pathLst>
          </a:custGeom>
          <a:blipFill>
            <a:blip r:embed="rId5">
              <a:alphaModFix amt="60000"/>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0" y="1694473"/>
            <a:ext cx="8827455" cy="7737525"/>
          </a:xfrm>
          <a:custGeom>
            <a:avLst/>
            <a:gdLst/>
            <a:ahLst/>
            <a:cxnLst/>
            <a:rect r="r" b="b" t="t" l="l"/>
            <a:pathLst>
              <a:path h="7737525" w="8827455">
                <a:moveTo>
                  <a:pt x="0" y="0"/>
                </a:moveTo>
                <a:lnTo>
                  <a:pt x="8827455" y="0"/>
                </a:lnTo>
                <a:lnTo>
                  <a:pt x="8827455" y="7737525"/>
                </a:lnTo>
                <a:lnTo>
                  <a:pt x="0" y="7737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9380249" y="2408551"/>
            <a:ext cx="8907751" cy="1184275"/>
          </a:xfrm>
          <a:prstGeom prst="rect">
            <a:avLst/>
          </a:prstGeom>
        </p:spPr>
        <p:txBody>
          <a:bodyPr anchor="t" rtlCol="false" tIns="0" lIns="0" bIns="0" rIns="0">
            <a:spAutoFit/>
          </a:bodyPr>
          <a:lstStyle/>
          <a:p>
            <a:pPr algn="l" marL="1511299" indent="-755650" lvl="1">
              <a:lnSpc>
                <a:spcPts val="9799"/>
              </a:lnSpc>
              <a:buAutoNum type="arabicPeriod" startAt="1"/>
            </a:pPr>
            <a:r>
              <a:rPr lang="en-US" sz="6999">
                <a:solidFill>
                  <a:srgbClr val="FFFFFF"/>
                </a:solidFill>
                <a:latin typeface="Fredoka"/>
                <a:ea typeface="Fredoka"/>
                <a:cs typeface="Fredoka"/>
                <a:sym typeface="Fredoka"/>
              </a:rPr>
              <a:t> Dataset utilisé: </a:t>
            </a:r>
          </a:p>
        </p:txBody>
      </p:sp>
      <p:sp>
        <p:nvSpPr>
          <p:cNvPr name="Freeform 6" id="6"/>
          <p:cNvSpPr/>
          <p:nvPr/>
        </p:nvSpPr>
        <p:spPr>
          <a:xfrm flipH="false" flipV="false" rot="0">
            <a:off x="-813866" y="297325"/>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9">
              <a:alphaModFix amt="54000"/>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7259300" y="8987961"/>
            <a:ext cx="1560511" cy="888072"/>
          </a:xfrm>
          <a:custGeom>
            <a:avLst/>
            <a:gdLst/>
            <a:ahLst/>
            <a:cxnLst/>
            <a:rect r="r" b="b" t="t" l="l"/>
            <a:pathLst>
              <a:path h="888072" w="1560511">
                <a:moveTo>
                  <a:pt x="0" y="0"/>
                </a:moveTo>
                <a:lnTo>
                  <a:pt x="1560511" y="0"/>
                </a:lnTo>
                <a:lnTo>
                  <a:pt x="1560511" y="888073"/>
                </a:lnTo>
                <a:lnTo>
                  <a:pt x="0" y="888073"/>
                </a:lnTo>
                <a:lnTo>
                  <a:pt x="0" y="0"/>
                </a:lnTo>
                <a:close/>
              </a:path>
            </a:pathLst>
          </a:custGeom>
          <a:blipFill>
            <a:blip r:embed="rId9">
              <a:alphaModFix amt="54000"/>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076444" y="4304852"/>
            <a:ext cx="7182856" cy="4789805"/>
          </a:xfrm>
          <a:prstGeom prst="rect">
            <a:avLst/>
          </a:prstGeom>
        </p:spPr>
        <p:txBody>
          <a:bodyPr anchor="t" rtlCol="false" tIns="0" lIns="0" bIns="0" rIns="0">
            <a:spAutoFit/>
          </a:bodyPr>
          <a:lstStyle/>
          <a:p>
            <a:pPr algn="just">
              <a:lnSpc>
                <a:spcPts val="3220"/>
              </a:lnSpc>
            </a:pPr>
            <a:r>
              <a:rPr lang="en-US" sz="2300" b="true">
                <a:solidFill>
                  <a:srgbClr val="FFFFFF"/>
                </a:solidFill>
                <a:latin typeface="Montserrat Medium"/>
                <a:ea typeface="Montserrat Medium"/>
                <a:cs typeface="Montserrat Medium"/>
                <a:sym typeface="Montserrat Medium"/>
              </a:rPr>
              <a:t>Dataset :</a:t>
            </a:r>
          </a:p>
          <a:p>
            <a:pPr algn="just">
              <a:lnSpc>
                <a:spcPts val="3220"/>
              </a:lnSpc>
            </a:pPr>
            <a:r>
              <a:rPr lang="en-US" sz="2300" b="true">
                <a:solidFill>
                  <a:srgbClr val="FFFFFF"/>
                </a:solidFill>
                <a:latin typeface="Montserrat Medium"/>
                <a:ea typeface="Montserrat Medium"/>
                <a:cs typeface="Montserrat Medium"/>
                <a:sym typeface="Montserrat Medium"/>
              </a:rPr>
              <a:t>“HIBA ASRI – Miscarriage Prediction Risk Factors”</a:t>
            </a:r>
          </a:p>
          <a:p>
            <a:pPr algn="just">
              <a:lnSpc>
                <a:spcPts val="3220"/>
              </a:lnSpc>
            </a:pP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 Source : Mendeley Data</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 Auteur : Hiba Asri</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•Date de publication : 25 mai 2021</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 Version : 1</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DOI : 10.17632/5sbmhh6t3r.1</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Lignes:1000000</a:t>
            </a:r>
          </a:p>
          <a:p>
            <a:pPr algn="just" marL="496571" indent="-248285" lvl="1">
              <a:lnSpc>
                <a:spcPts val="3220"/>
              </a:lnSpc>
              <a:buFont typeface="Arial"/>
              <a:buChar char="•"/>
            </a:pPr>
            <a:r>
              <a:rPr lang="en-US" b="true" sz="2300">
                <a:solidFill>
                  <a:srgbClr val="FFFFFF"/>
                </a:solidFill>
                <a:latin typeface="Montserrat Medium"/>
                <a:ea typeface="Montserrat Medium"/>
                <a:cs typeface="Montserrat Medium"/>
                <a:sym typeface="Montserrat Medium"/>
              </a:rPr>
              <a:t>Colonne:16</a:t>
            </a:r>
          </a:p>
          <a:p>
            <a:pPr algn="just">
              <a:lnSpc>
                <a:spcPts val="32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737974">
            <a:off x="4078647" y="-1036010"/>
            <a:ext cx="16723353" cy="12071220"/>
          </a:xfrm>
          <a:custGeom>
            <a:avLst/>
            <a:gdLst/>
            <a:ahLst/>
            <a:cxnLst/>
            <a:rect r="r" b="b" t="t" l="l"/>
            <a:pathLst>
              <a:path h="12071220" w="16723353">
                <a:moveTo>
                  <a:pt x="0" y="0"/>
                </a:moveTo>
                <a:lnTo>
                  <a:pt x="16723353" y="0"/>
                </a:lnTo>
                <a:lnTo>
                  <a:pt x="16723353" y="12071220"/>
                </a:lnTo>
                <a:lnTo>
                  <a:pt x="0" y="12071220"/>
                </a:lnTo>
                <a:lnTo>
                  <a:pt x="0" y="0"/>
                </a:lnTo>
                <a:close/>
              </a:path>
            </a:pathLst>
          </a:custGeom>
          <a:blipFill>
            <a:blip r:embed="rId3">
              <a:alphaModFix amt="35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819959" y="-1492094"/>
            <a:ext cx="17240730" cy="14607600"/>
          </a:xfrm>
          <a:custGeom>
            <a:avLst/>
            <a:gdLst/>
            <a:ahLst/>
            <a:cxnLst/>
            <a:rect r="r" b="b" t="t" l="l"/>
            <a:pathLst>
              <a:path h="14607600" w="17240730">
                <a:moveTo>
                  <a:pt x="0" y="0"/>
                </a:moveTo>
                <a:lnTo>
                  <a:pt x="17240729" y="0"/>
                </a:lnTo>
                <a:lnTo>
                  <a:pt x="17240729" y="14607600"/>
                </a:lnTo>
                <a:lnTo>
                  <a:pt x="0" y="14607600"/>
                </a:lnTo>
                <a:lnTo>
                  <a:pt x="0" y="0"/>
                </a:lnTo>
                <a:close/>
              </a:path>
            </a:pathLst>
          </a:custGeom>
          <a:blipFill>
            <a:blip r:embed="rId5">
              <a:alphaModFix amt="60000"/>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13866" y="297325"/>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7">
              <a:alphaModFix amt="54000"/>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7259300" y="8987961"/>
            <a:ext cx="1560511" cy="888072"/>
          </a:xfrm>
          <a:custGeom>
            <a:avLst/>
            <a:gdLst/>
            <a:ahLst/>
            <a:cxnLst/>
            <a:rect r="r" b="b" t="t" l="l"/>
            <a:pathLst>
              <a:path h="888072" w="1560511">
                <a:moveTo>
                  <a:pt x="0" y="0"/>
                </a:moveTo>
                <a:lnTo>
                  <a:pt x="1560511" y="0"/>
                </a:lnTo>
                <a:lnTo>
                  <a:pt x="1560511" y="888073"/>
                </a:lnTo>
                <a:lnTo>
                  <a:pt x="0" y="888073"/>
                </a:lnTo>
                <a:lnTo>
                  <a:pt x="0" y="0"/>
                </a:lnTo>
                <a:close/>
              </a:path>
            </a:pathLst>
          </a:custGeom>
          <a:blipFill>
            <a:blip r:embed="rId7">
              <a:alphaModFix amt="54000"/>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5552572" y="2488883"/>
            <a:ext cx="7182856" cy="5989955"/>
          </a:xfrm>
          <a:prstGeom prst="rect">
            <a:avLst/>
          </a:prstGeom>
        </p:spPr>
        <p:txBody>
          <a:bodyPr anchor="t" rtlCol="false" tIns="0" lIns="0" bIns="0" rIns="0">
            <a:spAutoFit/>
          </a:bodyPr>
          <a:lstStyle/>
          <a:p>
            <a:pPr algn="just">
              <a:lnSpc>
                <a:spcPts val="3220"/>
              </a:lnSpc>
            </a:pPr>
            <a:r>
              <a:rPr lang="en-US" sz="2300" b="true">
                <a:solidFill>
                  <a:srgbClr val="FFFFFF"/>
                </a:solidFill>
                <a:latin typeface="Montserrat Medium"/>
                <a:ea typeface="Montserrat Medium"/>
                <a:cs typeface="Montserrat Medium"/>
                <a:sym typeface="Montserrat Medium"/>
              </a:rPr>
              <a:t>Les données proviennent de deux sources principales :</a:t>
            </a:r>
          </a:p>
          <a:p>
            <a:pPr algn="just">
              <a:lnSpc>
                <a:spcPts val="3220"/>
              </a:lnSpc>
            </a:pPr>
          </a:p>
          <a:p>
            <a:pPr algn="just">
              <a:lnSpc>
                <a:spcPts val="3220"/>
              </a:lnSpc>
            </a:pPr>
            <a:r>
              <a:rPr lang="en-US" sz="2300" b="true">
                <a:solidFill>
                  <a:srgbClr val="FFFFFF"/>
                </a:solidFill>
                <a:latin typeface="Montserrat Medium"/>
                <a:ea typeface="Montserrat Medium"/>
                <a:cs typeface="Montserrat Medium"/>
                <a:sym typeface="Montserrat Medium"/>
              </a:rPr>
              <a:t>1. Capteurs de santé (IoT)</a:t>
            </a:r>
          </a:p>
          <a:p>
            <a:pPr algn="just">
              <a:lnSpc>
                <a:spcPts val="3220"/>
              </a:lnSpc>
            </a:pPr>
            <a:r>
              <a:rPr lang="en-US" sz="2300" b="true">
                <a:solidFill>
                  <a:srgbClr val="FFFFFF"/>
                </a:solidFill>
                <a:latin typeface="Montserrat Medium"/>
                <a:ea typeface="Montserrat Medium"/>
                <a:cs typeface="Montserrat Medium"/>
                <a:sym typeface="Montserrat Medium"/>
              </a:rPr>
              <a:t>   • Fréquence cardiaque (Heart Rate)</a:t>
            </a:r>
          </a:p>
          <a:p>
            <a:pPr algn="just">
              <a:lnSpc>
                <a:spcPts val="3220"/>
              </a:lnSpc>
            </a:pPr>
            <a:r>
              <a:rPr lang="en-US" sz="2300" b="true">
                <a:solidFill>
                  <a:srgbClr val="FFFFFF"/>
                </a:solidFill>
                <a:latin typeface="Montserrat Medium"/>
                <a:ea typeface="Montserrat Medium"/>
                <a:cs typeface="Montserrat Medium"/>
                <a:sym typeface="Montserrat Medium"/>
              </a:rPr>
              <a:t>   • Stress</a:t>
            </a:r>
          </a:p>
          <a:p>
            <a:pPr algn="just">
              <a:lnSpc>
                <a:spcPts val="3220"/>
              </a:lnSpc>
            </a:pPr>
            <a:r>
              <a:rPr lang="en-US" sz="2300" b="true">
                <a:solidFill>
                  <a:srgbClr val="FFFFFF"/>
                </a:solidFill>
                <a:latin typeface="Montserrat Medium"/>
                <a:ea typeface="Montserrat Medium"/>
                <a:cs typeface="Montserrat Medium"/>
                <a:sym typeface="Montserrat Medium"/>
              </a:rPr>
              <a:t>   • Température corporelle</a:t>
            </a:r>
          </a:p>
          <a:p>
            <a:pPr algn="just">
              <a:lnSpc>
                <a:spcPts val="3220"/>
              </a:lnSpc>
            </a:pPr>
            <a:r>
              <a:rPr lang="en-US" sz="2300" b="true">
                <a:solidFill>
                  <a:srgbClr val="FFFFFF"/>
                </a:solidFill>
                <a:latin typeface="Montserrat Medium"/>
                <a:ea typeface="Montserrat Medium"/>
                <a:cs typeface="Montserrat Medium"/>
                <a:sym typeface="Montserrat Medium"/>
              </a:rPr>
              <a:t>   • Tension artérielle</a:t>
            </a:r>
          </a:p>
          <a:p>
            <a:pPr algn="just">
              <a:lnSpc>
                <a:spcPts val="3220"/>
              </a:lnSpc>
            </a:pPr>
          </a:p>
          <a:p>
            <a:pPr algn="just">
              <a:lnSpc>
                <a:spcPts val="3220"/>
              </a:lnSpc>
            </a:pPr>
            <a:r>
              <a:rPr lang="en-US" sz="2300" b="true">
                <a:solidFill>
                  <a:srgbClr val="FFFFFF"/>
                </a:solidFill>
                <a:latin typeface="Montserrat Medium"/>
                <a:ea typeface="Montserrat Medium"/>
                <a:cs typeface="Montserrat Medium"/>
                <a:sym typeface="Montserrat Medium"/>
              </a:rPr>
              <a:t>2. Téléphones mobiles</a:t>
            </a:r>
          </a:p>
          <a:p>
            <a:pPr algn="just">
              <a:lnSpc>
                <a:spcPts val="3220"/>
              </a:lnSpc>
            </a:pPr>
            <a:r>
              <a:rPr lang="en-US" sz="2300" b="true">
                <a:solidFill>
                  <a:srgbClr val="FFFFFF"/>
                </a:solidFill>
                <a:latin typeface="Montserrat Medium"/>
                <a:ea typeface="Montserrat Medium"/>
                <a:cs typeface="Montserrat Medium"/>
                <a:sym typeface="Montserrat Medium"/>
              </a:rPr>
              <a:t>   • Activité physique (walking, biking, sitting, driving)</a:t>
            </a:r>
          </a:p>
          <a:p>
            <a:pPr algn="just">
              <a:lnSpc>
                <a:spcPts val="3220"/>
              </a:lnSpc>
            </a:pPr>
            <a:r>
              <a:rPr lang="en-US" sz="2300" b="true">
                <a:solidFill>
                  <a:srgbClr val="FFFFFF"/>
                </a:solidFill>
                <a:latin typeface="Montserrat Medium"/>
                <a:ea typeface="Montserrat Medium"/>
                <a:cs typeface="Montserrat Medium"/>
                <a:sym typeface="Montserrat Medium"/>
              </a:rPr>
              <a:t>   • Indice de Masse Corporelle (IMC)</a:t>
            </a:r>
          </a:p>
          <a:p>
            <a:pPr algn="just">
              <a:lnSpc>
                <a:spcPts val="3220"/>
              </a:lnSpc>
            </a:pPr>
            <a:r>
              <a:rPr lang="en-US" sz="2300" b="true">
                <a:solidFill>
                  <a:srgbClr val="FFFFFF"/>
                </a:solidFill>
                <a:latin typeface="Montserrat Medium"/>
                <a:ea typeface="Montserrat Medium"/>
                <a:cs typeface="Montserrat Medium"/>
                <a:sym typeface="Montserrat Medium"/>
              </a:rPr>
              <a:t>   • Localisation</a:t>
            </a:r>
          </a:p>
          <a:p>
            <a:pPr algn="just">
              <a:lnSpc>
                <a:spcPts val="3220"/>
              </a:lnSpc>
            </a:pPr>
            <a:r>
              <a:rPr lang="en-US" sz="2300" b="true">
                <a:solidFill>
                  <a:srgbClr val="FFFFFF"/>
                </a:solidFill>
                <a:latin typeface="Montserrat Medium"/>
                <a:ea typeface="Montserrat Medium"/>
                <a:cs typeface="Montserrat Medium"/>
                <a:sym typeface="Montserrat Medium"/>
              </a:rPr>
              <a:t>   • Antécédents médicaux</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9987743">
            <a:off x="-5148051" y="-2289602"/>
            <a:ext cx="19179332" cy="16250125"/>
          </a:xfrm>
          <a:custGeom>
            <a:avLst/>
            <a:gdLst/>
            <a:ahLst/>
            <a:cxnLst/>
            <a:rect r="r" b="b" t="t" l="l"/>
            <a:pathLst>
              <a:path h="16250125" w="19179332">
                <a:moveTo>
                  <a:pt x="0" y="0"/>
                </a:moveTo>
                <a:lnTo>
                  <a:pt x="19179331" y="0"/>
                </a:lnTo>
                <a:lnTo>
                  <a:pt x="19179331" y="16250124"/>
                </a:lnTo>
                <a:lnTo>
                  <a:pt x="0" y="1625012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78541">
            <a:off x="684915" y="-158386"/>
            <a:ext cx="17201471" cy="12416335"/>
          </a:xfrm>
          <a:custGeom>
            <a:avLst/>
            <a:gdLst/>
            <a:ahLst/>
            <a:cxnLst/>
            <a:rect r="r" b="b" t="t" l="l"/>
            <a:pathLst>
              <a:path h="12416335" w="17201471">
                <a:moveTo>
                  <a:pt x="0" y="0"/>
                </a:moveTo>
                <a:lnTo>
                  <a:pt x="17201471" y="0"/>
                </a:lnTo>
                <a:lnTo>
                  <a:pt x="17201471" y="12416335"/>
                </a:lnTo>
                <a:lnTo>
                  <a:pt x="0" y="12416335"/>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52444" y="1419496"/>
            <a:ext cx="16406856" cy="2544441"/>
          </a:xfrm>
          <a:prstGeom prst="rect">
            <a:avLst/>
          </a:prstGeom>
        </p:spPr>
        <p:txBody>
          <a:bodyPr anchor="t" rtlCol="false" tIns="0" lIns="0" bIns="0" rIns="0">
            <a:spAutoFit/>
          </a:bodyPr>
          <a:lstStyle/>
          <a:p>
            <a:pPr algn="l">
              <a:lnSpc>
                <a:spcPts val="4340"/>
              </a:lnSpc>
            </a:pPr>
            <a:r>
              <a:rPr lang="en-US" sz="3100">
                <a:solidFill>
                  <a:srgbClr val="FBC0BB"/>
                </a:solidFill>
                <a:latin typeface="Fredoka"/>
                <a:ea typeface="Fredoka"/>
                <a:cs typeface="Fredoka"/>
                <a:sym typeface="Fredoka"/>
              </a:rPr>
              <a:t>Chargement du Dataset&amp;Exploration Initiale</a:t>
            </a:r>
          </a:p>
          <a:p>
            <a:pPr algn="l">
              <a:lnSpc>
                <a:spcPts val="8120"/>
              </a:lnSpc>
            </a:pPr>
          </a:p>
          <a:p>
            <a:pPr algn="l">
              <a:lnSpc>
                <a:spcPts val="8120"/>
              </a:lnSpc>
            </a:pPr>
          </a:p>
        </p:txBody>
      </p:sp>
      <p:sp>
        <p:nvSpPr>
          <p:cNvPr name="Freeform 5" id="5"/>
          <p:cNvSpPr/>
          <p:nvPr/>
        </p:nvSpPr>
        <p:spPr>
          <a:xfrm flipH="false" flipV="false" rot="0">
            <a:off x="16697050" y="1299474"/>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5550" y="580754"/>
            <a:ext cx="1574250" cy="895891"/>
          </a:xfrm>
          <a:custGeom>
            <a:avLst/>
            <a:gdLst/>
            <a:ahLst/>
            <a:cxnLst/>
            <a:rect r="r" b="b" t="t" l="l"/>
            <a:pathLst>
              <a:path h="895891" w="1574250">
                <a:moveTo>
                  <a:pt x="0" y="0"/>
                </a:moveTo>
                <a:lnTo>
                  <a:pt x="1574250" y="0"/>
                </a:lnTo>
                <a:lnTo>
                  <a:pt x="1574250" y="895892"/>
                </a:lnTo>
                <a:lnTo>
                  <a:pt x="0" y="895892"/>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053305" y="5835460"/>
            <a:ext cx="13110370" cy="2958338"/>
          </a:xfrm>
          <a:custGeom>
            <a:avLst/>
            <a:gdLst/>
            <a:ahLst/>
            <a:cxnLst/>
            <a:rect r="r" b="b" t="t" l="l"/>
            <a:pathLst>
              <a:path h="2958338" w="13110370">
                <a:moveTo>
                  <a:pt x="0" y="0"/>
                </a:moveTo>
                <a:lnTo>
                  <a:pt x="13110370" y="0"/>
                </a:lnTo>
                <a:lnTo>
                  <a:pt x="13110370" y="2958339"/>
                </a:lnTo>
                <a:lnTo>
                  <a:pt x="0" y="2958339"/>
                </a:lnTo>
                <a:lnTo>
                  <a:pt x="0" y="0"/>
                </a:lnTo>
                <a:close/>
              </a:path>
            </a:pathLst>
          </a:custGeom>
          <a:blipFill>
            <a:blip r:embed="rId8"/>
            <a:stretch>
              <a:fillRect l="0" t="-4674" r="0" b="-388"/>
            </a:stretch>
          </a:blipFill>
        </p:spPr>
      </p:sp>
      <p:sp>
        <p:nvSpPr>
          <p:cNvPr name="TextBox 8" id="8"/>
          <p:cNvSpPr txBox="true"/>
          <p:nvPr/>
        </p:nvSpPr>
        <p:spPr>
          <a:xfrm rot="0">
            <a:off x="1082222" y="2859518"/>
            <a:ext cx="13501770" cy="1298575"/>
          </a:xfrm>
          <a:prstGeom prst="rect">
            <a:avLst/>
          </a:prstGeom>
        </p:spPr>
        <p:txBody>
          <a:bodyPr anchor="t" rtlCol="false" tIns="0" lIns="0" bIns="0" rIns="0">
            <a:spAutoFit/>
          </a:bodyPr>
          <a:lstStyle/>
          <a:p>
            <a:pPr algn="l">
              <a:lnSpc>
                <a:spcPts val="3499"/>
              </a:lnSpc>
            </a:pPr>
            <a:r>
              <a:rPr lang="en-US" sz="2499">
                <a:solidFill>
                  <a:srgbClr val="FFFFFF"/>
                </a:solidFill>
                <a:latin typeface="Fredoka"/>
                <a:ea typeface="Fredoka"/>
                <a:cs typeface="Fredoka"/>
                <a:sym typeface="Fredoka"/>
              </a:rPr>
              <a:t>Nous commençons par explorer le dataset : afficher les premières lignes pour avoir un aperçu, vérifier ses dimensions et lister les noms des variables. Cela nous permet de comprendre la structure générale des données avant de les analyser en détail."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9987743">
            <a:off x="-5148051" y="-2289602"/>
            <a:ext cx="19179332" cy="16250125"/>
          </a:xfrm>
          <a:custGeom>
            <a:avLst/>
            <a:gdLst/>
            <a:ahLst/>
            <a:cxnLst/>
            <a:rect r="r" b="b" t="t" l="l"/>
            <a:pathLst>
              <a:path h="16250125" w="19179332">
                <a:moveTo>
                  <a:pt x="0" y="0"/>
                </a:moveTo>
                <a:lnTo>
                  <a:pt x="19179331" y="0"/>
                </a:lnTo>
                <a:lnTo>
                  <a:pt x="19179331" y="16250124"/>
                </a:lnTo>
                <a:lnTo>
                  <a:pt x="0" y="1625012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78541">
            <a:off x="684915" y="-158386"/>
            <a:ext cx="17201471" cy="12416335"/>
          </a:xfrm>
          <a:custGeom>
            <a:avLst/>
            <a:gdLst/>
            <a:ahLst/>
            <a:cxnLst/>
            <a:rect r="r" b="b" t="t" l="l"/>
            <a:pathLst>
              <a:path h="12416335" w="17201471">
                <a:moveTo>
                  <a:pt x="0" y="0"/>
                </a:moveTo>
                <a:lnTo>
                  <a:pt x="17201471" y="0"/>
                </a:lnTo>
                <a:lnTo>
                  <a:pt x="17201471" y="12416335"/>
                </a:lnTo>
                <a:lnTo>
                  <a:pt x="0" y="12416335"/>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52444" y="914400"/>
            <a:ext cx="16406856" cy="2024377"/>
          </a:xfrm>
          <a:prstGeom prst="rect">
            <a:avLst/>
          </a:prstGeom>
        </p:spPr>
        <p:txBody>
          <a:bodyPr anchor="t" rtlCol="false" tIns="0" lIns="0" bIns="0" rIns="0">
            <a:spAutoFit/>
          </a:bodyPr>
          <a:lstStyle/>
          <a:p>
            <a:pPr algn="l">
              <a:lnSpc>
                <a:spcPts val="8120"/>
              </a:lnSpc>
            </a:pPr>
            <a:r>
              <a:rPr lang="en-US" sz="5800">
                <a:solidFill>
                  <a:srgbClr val="FFFFFF"/>
                </a:solidFill>
                <a:latin typeface="Fredoka"/>
                <a:ea typeface="Fredoka"/>
                <a:cs typeface="Fredoka"/>
                <a:sym typeface="Fredoka"/>
              </a:rPr>
              <a:t>4. Prétraitement des Types &amp; Nettoyage</a:t>
            </a:r>
          </a:p>
          <a:p>
            <a:pPr algn="l">
              <a:lnSpc>
                <a:spcPts val="8120"/>
              </a:lnSpc>
            </a:pPr>
          </a:p>
        </p:txBody>
      </p:sp>
      <p:sp>
        <p:nvSpPr>
          <p:cNvPr name="Freeform 5" id="5"/>
          <p:cNvSpPr/>
          <p:nvPr/>
        </p:nvSpPr>
        <p:spPr>
          <a:xfrm flipH="false" flipV="false" rot="0">
            <a:off x="16697050" y="1299474"/>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5550" y="580754"/>
            <a:ext cx="1574250" cy="895891"/>
          </a:xfrm>
          <a:custGeom>
            <a:avLst/>
            <a:gdLst/>
            <a:ahLst/>
            <a:cxnLst/>
            <a:rect r="r" b="b" t="t" l="l"/>
            <a:pathLst>
              <a:path h="895891" w="1574250">
                <a:moveTo>
                  <a:pt x="0" y="0"/>
                </a:moveTo>
                <a:lnTo>
                  <a:pt x="1574250" y="0"/>
                </a:lnTo>
                <a:lnTo>
                  <a:pt x="1574250" y="895892"/>
                </a:lnTo>
                <a:lnTo>
                  <a:pt x="0" y="895892"/>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329059" y="2629947"/>
            <a:ext cx="13537158" cy="4930771"/>
          </a:xfrm>
          <a:prstGeom prst="rect">
            <a:avLst/>
          </a:prstGeom>
        </p:spPr>
        <p:txBody>
          <a:bodyPr anchor="t" rtlCol="false" tIns="0" lIns="0" bIns="0" rIns="0">
            <a:spAutoFit/>
          </a:bodyPr>
          <a:lstStyle/>
          <a:p>
            <a:pPr algn="l" marL="755688" indent="-377844" lvl="1">
              <a:lnSpc>
                <a:spcPts val="4900"/>
              </a:lnSpc>
              <a:buFont typeface="Arial"/>
              <a:buChar char="•"/>
            </a:pPr>
            <a:r>
              <a:rPr lang="en-US" sz="3500">
                <a:solidFill>
                  <a:srgbClr val="FFFFFF"/>
                </a:solidFill>
                <a:latin typeface="Fredoka"/>
                <a:ea typeface="Fredoka"/>
                <a:cs typeface="Fredoka"/>
                <a:sym typeface="Fredoka"/>
              </a:rPr>
              <a:t>Correction des types de variables lors du prétraitement</a:t>
            </a:r>
          </a:p>
          <a:p>
            <a:pPr algn="l" marL="755688" indent="-377844" lvl="1">
              <a:lnSpc>
                <a:spcPts val="4900"/>
              </a:lnSpc>
              <a:buFont typeface="Arial"/>
              <a:buChar char="•"/>
            </a:pPr>
            <a:r>
              <a:rPr lang="en-US" sz="3500">
                <a:solidFill>
                  <a:srgbClr val="FFFFFF"/>
                </a:solidFill>
                <a:latin typeface="Fredoka"/>
                <a:ea typeface="Fredoka"/>
                <a:cs typeface="Fredoka"/>
                <a:sym typeface="Fredoka"/>
              </a:rPr>
              <a:t>Conversion de la variable BMI du format texte vers un format numérique</a:t>
            </a:r>
          </a:p>
          <a:p>
            <a:pPr algn="l" marL="755688" indent="-377844" lvl="1">
              <a:lnSpc>
                <a:spcPts val="4900"/>
              </a:lnSpc>
              <a:buFont typeface="Arial"/>
              <a:buChar char="•"/>
            </a:pPr>
            <a:r>
              <a:rPr lang="en-US" sz="3500">
                <a:solidFill>
                  <a:srgbClr val="FFFFFF"/>
                </a:solidFill>
                <a:latin typeface="Fredoka"/>
                <a:ea typeface="Fredoka"/>
                <a:cs typeface="Fredoka"/>
                <a:sym typeface="Fredoka"/>
              </a:rPr>
              <a:t>Transformation des variables catégorielles (activité, stress, localisation, Drunk etc) en facteurs</a:t>
            </a:r>
          </a:p>
          <a:p>
            <a:pPr algn="l" marL="755688" indent="-377844" lvl="1">
              <a:lnSpc>
                <a:spcPts val="4900"/>
              </a:lnSpc>
              <a:buFont typeface="Arial"/>
              <a:buChar char="•"/>
            </a:pPr>
            <a:r>
              <a:rPr lang="en-US" sz="3500">
                <a:solidFill>
                  <a:srgbClr val="FFFFFF"/>
                </a:solidFill>
                <a:latin typeface="Fredoka"/>
                <a:ea typeface="Fredoka"/>
                <a:cs typeface="Fredoka"/>
                <a:sym typeface="Fredoka"/>
              </a:rPr>
              <a:t>Vérification de la structure du dataset pour s’assurer du bon typage des variables</a:t>
            </a:r>
          </a:p>
          <a:p>
            <a:pPr algn="l">
              <a:lnSpc>
                <a:spcPts val="49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9987743">
            <a:off x="-5148051" y="-2289602"/>
            <a:ext cx="19179332" cy="16250125"/>
          </a:xfrm>
          <a:custGeom>
            <a:avLst/>
            <a:gdLst/>
            <a:ahLst/>
            <a:cxnLst/>
            <a:rect r="r" b="b" t="t" l="l"/>
            <a:pathLst>
              <a:path h="16250125" w="19179332">
                <a:moveTo>
                  <a:pt x="0" y="0"/>
                </a:moveTo>
                <a:lnTo>
                  <a:pt x="19179331" y="0"/>
                </a:lnTo>
                <a:lnTo>
                  <a:pt x="19179331" y="16250124"/>
                </a:lnTo>
                <a:lnTo>
                  <a:pt x="0" y="1625012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78541">
            <a:off x="684915" y="-158386"/>
            <a:ext cx="17201471" cy="12416335"/>
          </a:xfrm>
          <a:custGeom>
            <a:avLst/>
            <a:gdLst/>
            <a:ahLst/>
            <a:cxnLst/>
            <a:rect r="r" b="b" t="t" l="l"/>
            <a:pathLst>
              <a:path h="12416335" w="17201471">
                <a:moveTo>
                  <a:pt x="0" y="0"/>
                </a:moveTo>
                <a:lnTo>
                  <a:pt x="17201471" y="0"/>
                </a:lnTo>
                <a:lnTo>
                  <a:pt x="17201471" y="12416335"/>
                </a:lnTo>
                <a:lnTo>
                  <a:pt x="0" y="12416335"/>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697050" y="1299474"/>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45550" y="580754"/>
            <a:ext cx="1574250" cy="895891"/>
          </a:xfrm>
          <a:custGeom>
            <a:avLst/>
            <a:gdLst/>
            <a:ahLst/>
            <a:cxnLst/>
            <a:rect r="r" b="b" t="t" l="l"/>
            <a:pathLst>
              <a:path h="895891" w="1574250">
                <a:moveTo>
                  <a:pt x="0" y="0"/>
                </a:moveTo>
                <a:lnTo>
                  <a:pt x="1574250" y="0"/>
                </a:lnTo>
                <a:lnTo>
                  <a:pt x="1574250" y="895892"/>
                </a:lnTo>
                <a:lnTo>
                  <a:pt x="0" y="895892"/>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329059" y="2629947"/>
            <a:ext cx="13537158" cy="5887716"/>
          </a:xfrm>
          <a:prstGeom prst="rect">
            <a:avLst/>
          </a:prstGeom>
        </p:spPr>
        <p:txBody>
          <a:bodyPr anchor="t" rtlCol="false" tIns="0" lIns="0" bIns="0" rIns="0">
            <a:spAutoFit/>
          </a:bodyPr>
          <a:lstStyle/>
          <a:p>
            <a:pPr algn="l" marL="798867" indent="-399433" lvl="1">
              <a:lnSpc>
                <a:spcPts val="5180"/>
              </a:lnSpc>
              <a:buFont typeface="Arial"/>
              <a:buChar char="•"/>
            </a:pPr>
            <a:r>
              <a:rPr lang="en-US" sz="3700">
                <a:solidFill>
                  <a:srgbClr val="FFFFFF"/>
                </a:solidFill>
                <a:latin typeface="Fredoka"/>
                <a:ea typeface="Fredoka"/>
                <a:cs typeface="Fredoka"/>
                <a:sym typeface="Fredoka"/>
              </a:rPr>
              <a:t>Transformation des variables binaires en facteurs</a:t>
            </a:r>
          </a:p>
          <a:p>
            <a:pPr algn="l" marL="798867" indent="-399433" lvl="1">
              <a:lnSpc>
                <a:spcPts val="5180"/>
              </a:lnSpc>
              <a:buFont typeface="Arial"/>
              <a:buChar char="•"/>
            </a:pPr>
            <a:r>
              <a:rPr lang="en-US" sz="3700">
                <a:solidFill>
                  <a:srgbClr val="FFFFFF"/>
                </a:solidFill>
                <a:latin typeface="Fredoka"/>
                <a:ea typeface="Fredoka"/>
                <a:cs typeface="Fredoka"/>
                <a:sym typeface="Fredoka"/>
              </a:rPr>
              <a:t>Attribution de étiquettes explicites pour une meilleure lisibilité</a:t>
            </a:r>
          </a:p>
          <a:p>
            <a:pPr algn="l" marL="798867" indent="-399433" lvl="1">
              <a:lnSpc>
                <a:spcPts val="5180"/>
              </a:lnSpc>
              <a:buFont typeface="Arial"/>
              <a:buChar char="•"/>
            </a:pPr>
            <a:r>
              <a:rPr lang="en-US" sz="3700">
                <a:solidFill>
                  <a:srgbClr val="FFFFFF"/>
                </a:solidFill>
                <a:latin typeface="Fredoka"/>
                <a:ea typeface="Fredoka"/>
                <a:cs typeface="Fredoka"/>
                <a:sym typeface="Fredoka"/>
              </a:rPr>
              <a:t>Exemple : Binking → 0 = No, 1 = Yes</a:t>
            </a:r>
          </a:p>
          <a:p>
            <a:pPr algn="l" marL="798867" indent="-399433" lvl="1">
              <a:lnSpc>
                <a:spcPts val="5180"/>
              </a:lnSpc>
              <a:buFont typeface="Arial"/>
              <a:buChar char="•"/>
            </a:pPr>
            <a:r>
              <a:rPr lang="en-US" sz="3700">
                <a:solidFill>
                  <a:srgbClr val="FFFFFF"/>
                </a:solidFill>
                <a:latin typeface="Fredoka"/>
                <a:ea typeface="Fredoka"/>
                <a:cs typeface="Fredoka"/>
                <a:sym typeface="Fredoka"/>
              </a:rPr>
              <a:t>Variable Miscarriage → 0 = No_Miscarriage, 1 = Miscarriage</a:t>
            </a:r>
          </a:p>
          <a:p>
            <a:pPr algn="l" marL="798867" indent="-399433" lvl="1">
              <a:lnSpc>
                <a:spcPts val="5180"/>
              </a:lnSpc>
              <a:buFont typeface="Arial"/>
              <a:buChar char="•"/>
            </a:pPr>
            <a:r>
              <a:rPr lang="en-US" sz="3700">
                <a:solidFill>
                  <a:srgbClr val="FFFFFF"/>
                </a:solidFill>
                <a:latin typeface="Fredoka"/>
                <a:ea typeface="Fredoka"/>
                <a:cs typeface="Fredoka"/>
                <a:sym typeface="Fredoka"/>
              </a:rPr>
              <a:t>Am</a:t>
            </a:r>
            <a:r>
              <a:rPr lang="en-US" sz="3700">
                <a:solidFill>
                  <a:srgbClr val="FFFFFF"/>
                </a:solidFill>
                <a:latin typeface="Fredoka"/>
                <a:ea typeface="Fredoka"/>
                <a:cs typeface="Fredoka"/>
                <a:sym typeface="Fredoka"/>
              </a:rPr>
              <a:t>élioration de la lisibilité et de l’interprétabilité des résultats et visualisations</a:t>
            </a:r>
          </a:p>
          <a:p>
            <a:pPr algn="l">
              <a:lnSpc>
                <a:spcPts val="518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378541">
            <a:off x="-2423596" y="583792"/>
            <a:ext cx="17201471" cy="12416335"/>
          </a:xfrm>
          <a:custGeom>
            <a:avLst/>
            <a:gdLst/>
            <a:ahLst/>
            <a:cxnLst/>
            <a:rect r="r" b="b" t="t" l="l"/>
            <a:pathLst>
              <a:path h="12416335" w="17201471">
                <a:moveTo>
                  <a:pt x="0" y="0"/>
                </a:moveTo>
                <a:lnTo>
                  <a:pt x="17201472" y="0"/>
                </a:lnTo>
                <a:lnTo>
                  <a:pt x="17201472" y="12416335"/>
                </a:lnTo>
                <a:lnTo>
                  <a:pt x="0" y="12416335"/>
                </a:lnTo>
                <a:lnTo>
                  <a:pt x="0" y="0"/>
                </a:lnTo>
                <a:close/>
              </a:path>
            </a:pathLst>
          </a:custGeom>
          <a:blipFill>
            <a:blip r:embed="rId3">
              <a:alphaModFix amt="35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9987743">
            <a:off x="1302956" y="-484288"/>
            <a:ext cx="15279551" cy="12945947"/>
          </a:xfrm>
          <a:custGeom>
            <a:avLst/>
            <a:gdLst/>
            <a:ahLst/>
            <a:cxnLst/>
            <a:rect r="r" b="b" t="t" l="l"/>
            <a:pathLst>
              <a:path h="12945947" w="15279551">
                <a:moveTo>
                  <a:pt x="0" y="0"/>
                </a:moveTo>
                <a:lnTo>
                  <a:pt x="15279551" y="0"/>
                </a:lnTo>
                <a:lnTo>
                  <a:pt x="15279551" y="12945947"/>
                </a:lnTo>
                <a:lnTo>
                  <a:pt x="0" y="12945947"/>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10170746">
            <a:off x="5453401" y="2567967"/>
            <a:ext cx="1721618" cy="486357"/>
          </a:xfrm>
          <a:custGeom>
            <a:avLst/>
            <a:gdLst/>
            <a:ahLst/>
            <a:cxnLst/>
            <a:rect r="r" b="b" t="t" l="l"/>
            <a:pathLst>
              <a:path h="486357" w="1721618">
                <a:moveTo>
                  <a:pt x="0" y="0"/>
                </a:moveTo>
                <a:lnTo>
                  <a:pt x="1721618" y="0"/>
                </a:lnTo>
                <a:lnTo>
                  <a:pt x="1721618" y="486357"/>
                </a:lnTo>
                <a:lnTo>
                  <a:pt x="0" y="4863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4400821" y="533400"/>
            <a:ext cx="9486359" cy="863597"/>
          </a:xfrm>
          <a:prstGeom prst="rect">
            <a:avLst/>
          </a:prstGeom>
        </p:spPr>
        <p:txBody>
          <a:bodyPr anchor="t" rtlCol="false" tIns="0" lIns="0" bIns="0" rIns="0">
            <a:spAutoFit/>
          </a:bodyPr>
          <a:lstStyle/>
          <a:p>
            <a:pPr algn="ctr">
              <a:lnSpc>
                <a:spcPts val="7000"/>
              </a:lnSpc>
            </a:pPr>
            <a:r>
              <a:rPr lang="en-US" sz="5000">
                <a:solidFill>
                  <a:srgbClr val="FBC0BB"/>
                </a:solidFill>
                <a:latin typeface="Fredoka"/>
                <a:ea typeface="Fredoka"/>
                <a:cs typeface="Fredoka"/>
                <a:sym typeface="Fredoka"/>
              </a:rPr>
              <a:t>Résumé statistique descriptif</a:t>
            </a:r>
          </a:p>
        </p:txBody>
      </p:sp>
      <p:sp>
        <p:nvSpPr>
          <p:cNvPr name="TextBox 6" id="6"/>
          <p:cNvSpPr txBox="true"/>
          <p:nvPr/>
        </p:nvSpPr>
        <p:spPr>
          <a:xfrm rot="0">
            <a:off x="1028700" y="2353309"/>
            <a:ext cx="4110992" cy="2585084"/>
          </a:xfrm>
          <a:prstGeom prst="rect">
            <a:avLst/>
          </a:prstGeom>
        </p:spPr>
        <p:txBody>
          <a:bodyPr anchor="t" rtlCol="false" tIns="0" lIns="0" bIns="0" rIns="0">
            <a:spAutoFit/>
          </a:bodyPr>
          <a:lstStyle/>
          <a:p>
            <a:pPr algn="l"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Analyse des mesures centrales : moyenne et médiane</a:t>
            </a:r>
          </a:p>
          <a:p>
            <a:pPr algn="l"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Étude de la dispersion : valeurs minimale et maximale</a:t>
            </a:r>
          </a:p>
          <a:p>
            <a:pPr algn="l">
              <a:lnSpc>
                <a:spcPts val="2940"/>
              </a:lnSpc>
            </a:pPr>
          </a:p>
        </p:txBody>
      </p:sp>
      <p:sp>
        <p:nvSpPr>
          <p:cNvPr name="TextBox 7" id="7"/>
          <p:cNvSpPr txBox="true"/>
          <p:nvPr/>
        </p:nvSpPr>
        <p:spPr>
          <a:xfrm rot="0">
            <a:off x="1028700" y="6378892"/>
            <a:ext cx="3702464" cy="1099185"/>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Medium"/>
                <a:ea typeface="Montserrat Medium"/>
                <a:cs typeface="Montserrat Medium"/>
                <a:sym typeface="Montserrat Medium"/>
              </a:rPr>
              <a:t>Observation de la distribution des variables catégorielles</a:t>
            </a:r>
          </a:p>
        </p:txBody>
      </p:sp>
      <p:sp>
        <p:nvSpPr>
          <p:cNvPr name="TextBox 8" id="8"/>
          <p:cNvSpPr txBox="true"/>
          <p:nvPr/>
        </p:nvSpPr>
        <p:spPr>
          <a:xfrm rot="0">
            <a:off x="13556776" y="2377243"/>
            <a:ext cx="3702464" cy="1842134"/>
          </a:xfrm>
          <a:prstGeom prst="rect">
            <a:avLst/>
          </a:prstGeom>
        </p:spPr>
        <p:txBody>
          <a:bodyPr anchor="t" rtlCol="false" tIns="0" lIns="0" bIns="0" rIns="0">
            <a:spAutoFit/>
          </a:bodyPr>
          <a:lstStyle/>
          <a:p>
            <a:pPr algn="just"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Âge des patientes : de 22 à 26 ans</a:t>
            </a:r>
          </a:p>
          <a:p>
            <a:pPr algn="just"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BMI : de 16,7 à 26,5</a:t>
            </a:r>
          </a:p>
          <a:p>
            <a:pPr algn="just">
              <a:lnSpc>
                <a:spcPts val="2940"/>
              </a:lnSpc>
            </a:pPr>
          </a:p>
          <a:p>
            <a:pPr algn="just">
              <a:lnSpc>
                <a:spcPts val="2940"/>
              </a:lnSpc>
            </a:pPr>
          </a:p>
        </p:txBody>
      </p:sp>
      <p:sp>
        <p:nvSpPr>
          <p:cNvPr name="TextBox 9" id="9"/>
          <p:cNvSpPr txBox="true"/>
          <p:nvPr/>
        </p:nvSpPr>
        <p:spPr>
          <a:xfrm rot="0">
            <a:off x="13887179" y="5950585"/>
            <a:ext cx="3702464" cy="2585084"/>
          </a:xfrm>
          <a:prstGeom prst="rect">
            <a:avLst/>
          </a:prstGeom>
        </p:spPr>
        <p:txBody>
          <a:bodyPr anchor="t" rtlCol="false" tIns="0" lIns="0" bIns="0" rIns="0">
            <a:spAutoFit/>
          </a:bodyPr>
          <a:lstStyle/>
          <a:p>
            <a:pPr algn="just"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Grossesses sans fausse couche : 213 869 observations</a:t>
            </a:r>
          </a:p>
          <a:p>
            <a:pPr algn="just" marL="453396" indent="-226698" lvl="1">
              <a:lnSpc>
                <a:spcPts val="2940"/>
              </a:lnSpc>
              <a:buFont typeface="Arial"/>
              <a:buChar char="•"/>
            </a:pPr>
            <a:r>
              <a:rPr lang="en-US" b="true" sz="2100">
                <a:solidFill>
                  <a:srgbClr val="FFFFFF"/>
                </a:solidFill>
                <a:latin typeface="Montserrat Medium"/>
                <a:ea typeface="Montserrat Medium"/>
                <a:cs typeface="Montserrat Medium"/>
                <a:sym typeface="Montserrat Medium"/>
              </a:rPr>
              <a:t>Grossesses avec fausse couche : 153 496 observations</a:t>
            </a:r>
          </a:p>
          <a:p>
            <a:pPr algn="just">
              <a:lnSpc>
                <a:spcPts val="2940"/>
              </a:lnSpc>
            </a:pPr>
          </a:p>
        </p:txBody>
      </p:sp>
      <p:sp>
        <p:nvSpPr>
          <p:cNvPr name="Freeform 10" id="10"/>
          <p:cNvSpPr/>
          <p:nvPr/>
        </p:nvSpPr>
        <p:spPr>
          <a:xfrm flipH="true" flipV="false" rot="10559576">
            <a:off x="11318416" y="2596542"/>
            <a:ext cx="1721618" cy="486357"/>
          </a:xfrm>
          <a:custGeom>
            <a:avLst/>
            <a:gdLst/>
            <a:ahLst/>
            <a:cxnLst/>
            <a:rect r="r" b="b" t="t" l="l"/>
            <a:pathLst>
              <a:path h="486357" w="1721618">
                <a:moveTo>
                  <a:pt x="1721618" y="0"/>
                </a:moveTo>
                <a:lnTo>
                  <a:pt x="0" y="0"/>
                </a:lnTo>
                <a:lnTo>
                  <a:pt x="0" y="486357"/>
                </a:lnTo>
                <a:lnTo>
                  <a:pt x="1721618" y="486357"/>
                </a:lnTo>
                <a:lnTo>
                  <a:pt x="172161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1835158" y="6911921"/>
            <a:ext cx="1721618" cy="486357"/>
          </a:xfrm>
          <a:custGeom>
            <a:avLst/>
            <a:gdLst/>
            <a:ahLst/>
            <a:cxnLst/>
            <a:rect r="r" b="b" t="t" l="l"/>
            <a:pathLst>
              <a:path h="486357" w="1721618">
                <a:moveTo>
                  <a:pt x="0" y="0"/>
                </a:moveTo>
                <a:lnTo>
                  <a:pt x="1721618" y="0"/>
                </a:lnTo>
                <a:lnTo>
                  <a:pt x="1721618" y="486357"/>
                </a:lnTo>
                <a:lnTo>
                  <a:pt x="0" y="4863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true" rot="10226635">
            <a:off x="5168118" y="6772390"/>
            <a:ext cx="1721618" cy="486357"/>
          </a:xfrm>
          <a:custGeom>
            <a:avLst/>
            <a:gdLst/>
            <a:ahLst/>
            <a:cxnLst/>
            <a:rect r="r" b="b" t="t" l="l"/>
            <a:pathLst>
              <a:path h="486357" w="1721618">
                <a:moveTo>
                  <a:pt x="0" y="486357"/>
                </a:moveTo>
                <a:lnTo>
                  <a:pt x="1721617" y="486357"/>
                </a:lnTo>
                <a:lnTo>
                  <a:pt x="1721617" y="0"/>
                </a:lnTo>
                <a:lnTo>
                  <a:pt x="0" y="0"/>
                </a:lnTo>
                <a:lnTo>
                  <a:pt x="0" y="486357"/>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5408008" y="-368448"/>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9">
              <a:alphaModFix amt="54000"/>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787125" y="190229"/>
            <a:ext cx="1574250" cy="895891"/>
          </a:xfrm>
          <a:custGeom>
            <a:avLst/>
            <a:gdLst/>
            <a:ahLst/>
            <a:cxnLst/>
            <a:rect r="r" b="b" t="t" l="l"/>
            <a:pathLst>
              <a:path h="895891" w="1574250">
                <a:moveTo>
                  <a:pt x="0" y="0"/>
                </a:moveTo>
                <a:lnTo>
                  <a:pt x="1574250" y="0"/>
                </a:lnTo>
                <a:lnTo>
                  <a:pt x="1574250" y="895892"/>
                </a:lnTo>
                <a:lnTo>
                  <a:pt x="0" y="895892"/>
                </a:lnTo>
                <a:lnTo>
                  <a:pt x="0" y="0"/>
                </a:lnTo>
                <a:close/>
              </a:path>
            </a:pathLst>
          </a:custGeom>
          <a:blipFill>
            <a:blip r:embed="rId9">
              <a:alphaModFix amt="54000"/>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7192535" y="4415791"/>
            <a:ext cx="4110992" cy="815339"/>
          </a:xfrm>
          <a:prstGeom prst="rect">
            <a:avLst/>
          </a:prstGeom>
        </p:spPr>
        <p:txBody>
          <a:bodyPr anchor="t" rtlCol="false" tIns="0" lIns="0" bIns="0" rIns="0">
            <a:spAutoFit/>
          </a:bodyPr>
          <a:lstStyle/>
          <a:p>
            <a:pPr algn="ctr">
              <a:lnSpc>
                <a:spcPts val="3360"/>
              </a:lnSpc>
            </a:pPr>
            <a:r>
              <a:rPr lang="en-US" sz="2400" b="true">
                <a:solidFill>
                  <a:srgbClr val="FFFFFF"/>
                </a:solidFill>
                <a:latin typeface="Montserrat Bold"/>
                <a:ea typeface="Montserrat Bold"/>
                <a:cs typeface="Montserrat Bold"/>
                <a:sym typeface="Montserrat Bold"/>
              </a:rPr>
              <a:t>summary(data)</a:t>
            </a:r>
          </a:p>
          <a:p>
            <a:pPr algn="l">
              <a:lnSpc>
                <a:spcPts val="336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64876" y="937337"/>
            <a:ext cx="8732370" cy="1623691"/>
          </a:xfrm>
          <a:prstGeom prst="rect">
            <a:avLst/>
          </a:prstGeom>
        </p:spPr>
        <p:txBody>
          <a:bodyPr anchor="t" rtlCol="false" tIns="0" lIns="0" bIns="0" rIns="0">
            <a:spAutoFit/>
          </a:bodyPr>
          <a:lstStyle/>
          <a:p>
            <a:pPr algn="l">
              <a:lnSpc>
                <a:spcPts val="6580"/>
              </a:lnSpc>
            </a:pPr>
            <a:r>
              <a:rPr lang="en-US" sz="4700">
                <a:solidFill>
                  <a:srgbClr val="FBC0BB"/>
                </a:solidFill>
                <a:latin typeface="Fredoka"/>
                <a:ea typeface="Fredoka"/>
                <a:cs typeface="Fredoka"/>
                <a:sym typeface="Fredoka"/>
              </a:rPr>
              <a:t>Gestion des Duplicatas &amp; NA</a:t>
            </a:r>
          </a:p>
          <a:p>
            <a:pPr algn="l">
              <a:lnSpc>
                <a:spcPts val="6580"/>
              </a:lnSpc>
            </a:pPr>
          </a:p>
        </p:txBody>
      </p:sp>
      <p:sp>
        <p:nvSpPr>
          <p:cNvPr name="TextBox 5" id="5"/>
          <p:cNvSpPr txBox="true"/>
          <p:nvPr/>
        </p:nvSpPr>
        <p:spPr>
          <a:xfrm rot="0">
            <a:off x="1028700" y="2494353"/>
            <a:ext cx="7954620" cy="3580765"/>
          </a:xfrm>
          <a:prstGeom prst="rect">
            <a:avLst/>
          </a:prstGeom>
        </p:spPr>
        <p:txBody>
          <a:bodyPr anchor="t" rtlCol="false" tIns="0" lIns="0" bIns="0" rIns="0">
            <a:spAutoFit/>
          </a:bodyPr>
          <a:lstStyle/>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Pas de valeurs manquantes détectées.</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74 doublons sur 367 365 lignes.</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Les données sont globalement complètes et fiables.</a:t>
            </a:r>
          </a:p>
          <a:p>
            <a:pPr algn="l">
              <a:lnSpc>
                <a:spcPts val="4759"/>
              </a:lnSpc>
            </a:pPr>
          </a:p>
        </p:txBody>
      </p:sp>
      <p:sp>
        <p:nvSpPr>
          <p:cNvPr name="Freeform 6" id="6"/>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9116741" y="2494353"/>
            <a:ext cx="7954620" cy="4180840"/>
          </a:xfrm>
          <a:prstGeom prst="rect">
            <a:avLst/>
          </a:prstGeom>
        </p:spPr>
        <p:txBody>
          <a:bodyPr anchor="t" rtlCol="false" tIns="0" lIns="0" bIns="0" rIns="0">
            <a:spAutoFit/>
          </a:bodyPr>
          <a:lstStyle/>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Suppression des doublons :</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Les lignes dupliquées ont été supprimées.</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Aucun doublon restant, dataset prêt pour l’analyse (999 926 lignes).</a:t>
            </a:r>
          </a:p>
          <a:p>
            <a:pPr algn="l">
              <a:lnSpc>
                <a:spcPts val="475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164876" y="937337"/>
            <a:ext cx="10366481"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5.Analyse Exploratoire Globale</a:t>
            </a:r>
          </a:p>
          <a:p>
            <a:pPr algn="l">
              <a:lnSpc>
                <a:spcPts val="6580"/>
              </a:lnSpc>
            </a:pPr>
          </a:p>
        </p:txBody>
      </p:sp>
      <p:sp>
        <p:nvSpPr>
          <p:cNvPr name="TextBox 5" id="5"/>
          <p:cNvSpPr txBox="true"/>
          <p:nvPr/>
        </p:nvSpPr>
        <p:spPr>
          <a:xfrm rot="0">
            <a:off x="1028700" y="2494353"/>
            <a:ext cx="7954620" cy="2980690"/>
          </a:xfrm>
          <a:prstGeom prst="rect">
            <a:avLst/>
          </a:prstGeom>
        </p:spPr>
        <p:txBody>
          <a:bodyPr anchor="t" rtlCol="false" tIns="0" lIns="0" bIns="0" rIns="0">
            <a:spAutoFit/>
          </a:bodyPr>
          <a:lstStyle/>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Dataset : 999 926 observations, 16 variables (numériques et catégorielles).</a:t>
            </a:r>
          </a:p>
          <a:p>
            <a:pPr algn="l" marL="734059" indent="-367030" lvl="1">
              <a:lnSpc>
                <a:spcPts val="4759"/>
              </a:lnSpc>
              <a:buFont typeface="Arial"/>
              <a:buChar char="•"/>
            </a:pPr>
          </a:p>
          <a:p>
            <a:pPr algn="l">
              <a:lnSpc>
                <a:spcPts val="4759"/>
              </a:lnSpc>
            </a:pPr>
          </a:p>
        </p:txBody>
      </p:sp>
      <p:sp>
        <p:nvSpPr>
          <p:cNvPr name="Freeform 6" id="6"/>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9116741" y="2494353"/>
            <a:ext cx="7954620" cy="6581140"/>
          </a:xfrm>
          <a:prstGeom prst="rect">
            <a:avLst/>
          </a:prstGeom>
        </p:spPr>
        <p:txBody>
          <a:bodyPr anchor="t" rtlCol="false" tIns="0" lIns="0" bIns="0" rIns="0">
            <a:spAutoFit/>
          </a:bodyPr>
          <a:lstStyle/>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Statistiques descriptives principales :</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Âge : 22–34 ans, moyenne 28 ans</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BMI : 16,7–26,5, moyenne 21,6</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Variabl</a:t>
            </a:r>
            <a:r>
              <a:rPr lang="en-US" b="true" sz="3399">
                <a:solidFill>
                  <a:srgbClr val="FFFFFF"/>
                </a:solidFill>
                <a:latin typeface="Montserrat Medium"/>
                <a:ea typeface="Montserrat Medium"/>
                <a:cs typeface="Montserrat Medium"/>
                <a:sym typeface="Montserrat Medium"/>
              </a:rPr>
              <a:t>es binaires (Binking, Walking, Driving, Sitting) quasi équilibrées</a:t>
            </a:r>
          </a:p>
          <a:p>
            <a:pPr algn="l" marL="734059" indent="-367030" lvl="1">
              <a:lnSpc>
                <a:spcPts val="4759"/>
              </a:lnSpc>
              <a:buFont typeface="Arial"/>
              <a:buChar char="•"/>
            </a:pPr>
            <a:r>
              <a:rPr lang="en-US" b="true" sz="3399">
                <a:solidFill>
                  <a:srgbClr val="FFFFFF"/>
                </a:solidFill>
                <a:latin typeface="Montserrat Medium"/>
                <a:ea typeface="Montserrat Medium"/>
                <a:cs typeface="Montserrat Medium"/>
                <a:sym typeface="Montserrat Medium"/>
              </a:rPr>
              <a:t>Ci</a:t>
            </a:r>
            <a:r>
              <a:rPr lang="en-US" b="true" sz="3399">
                <a:solidFill>
                  <a:srgbClr val="FFFFFF"/>
                </a:solidFill>
                <a:latin typeface="Montserrat Medium"/>
                <a:ea typeface="Montserrat Medium"/>
                <a:cs typeface="Montserrat Medium"/>
                <a:sym typeface="Montserrat Medium"/>
              </a:rPr>
              <a:t>ble Miscarriage équilibrée : 500 530 sans, 499 396 avec fausse couche</a:t>
            </a:r>
          </a:p>
          <a:p>
            <a:pPr algn="l">
              <a:lnSpc>
                <a:spcPts val="4759"/>
              </a:lnSpc>
            </a:pPr>
          </a:p>
        </p:txBody>
      </p:sp>
      <p:sp>
        <p:nvSpPr>
          <p:cNvPr name="TextBox 10" id="10"/>
          <p:cNvSpPr txBox="true"/>
          <p:nvPr/>
        </p:nvSpPr>
        <p:spPr>
          <a:xfrm rot="0">
            <a:off x="795268" y="6773418"/>
            <a:ext cx="7954620" cy="1780540"/>
          </a:xfrm>
          <a:prstGeom prst="rect">
            <a:avLst/>
          </a:prstGeom>
        </p:spPr>
        <p:txBody>
          <a:bodyPr anchor="t" rtlCol="false" tIns="0" lIns="0" bIns="0" rIns="0">
            <a:spAutoFit/>
          </a:bodyPr>
          <a:lstStyle/>
          <a:p>
            <a:pPr algn="l">
              <a:lnSpc>
                <a:spcPts val="4759"/>
              </a:lnSpc>
            </a:pPr>
            <a:r>
              <a:rPr lang="en-US" sz="3399" b="true">
                <a:solidFill>
                  <a:srgbClr val="FFFFFF"/>
                </a:solidFill>
                <a:latin typeface="Montserrat Medium"/>
                <a:ea typeface="Montserrat Medium"/>
                <a:cs typeface="Montserrat Medium"/>
                <a:sym typeface="Montserrat Medium"/>
              </a:rPr>
              <a:t>=&gt; Objectif : Comprendre la distribution générale avant analyses détaillées et visualisations.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
        <p:nvSpPr>
          <p:cNvPr name="TextBox 8" id="8"/>
          <p:cNvSpPr txBox="true"/>
          <p:nvPr/>
        </p:nvSpPr>
        <p:spPr>
          <a:xfrm rot="0">
            <a:off x="4547177" y="3056490"/>
            <a:ext cx="7982205" cy="3358597"/>
          </a:xfrm>
          <a:prstGeom prst="rect">
            <a:avLst/>
          </a:prstGeom>
        </p:spPr>
        <p:txBody>
          <a:bodyPr anchor="t" rtlCol="false" tIns="0" lIns="0" bIns="0" rIns="0">
            <a:spAutoFit/>
          </a:bodyPr>
          <a:lstStyle/>
          <a:p>
            <a:pPr algn="l" marL="687651" indent="-343825" lvl="1">
              <a:lnSpc>
                <a:spcPts val="4459"/>
              </a:lnSpc>
              <a:buFont typeface="Arial"/>
              <a:buChar char="•"/>
            </a:pPr>
            <a:r>
              <a:rPr lang="en-US" b="true" sz="3185">
                <a:solidFill>
                  <a:srgbClr val="FFFFFF"/>
                </a:solidFill>
                <a:latin typeface="Montserrat Medium"/>
                <a:ea typeface="Montserrat Medium"/>
                <a:cs typeface="Montserrat Medium"/>
                <a:sym typeface="Montserrat Medium"/>
              </a:rPr>
              <a:t>Histogrammes pour Age, BMI, bpm et temp.</a:t>
            </a:r>
          </a:p>
          <a:p>
            <a:pPr algn="l" marL="687651" indent="-343825" lvl="1">
              <a:lnSpc>
                <a:spcPts val="4459"/>
              </a:lnSpc>
              <a:buFont typeface="Arial"/>
              <a:buChar char="•"/>
            </a:pPr>
            <a:r>
              <a:rPr lang="en-US" b="true" sz="3185">
                <a:solidFill>
                  <a:srgbClr val="FFFFFF"/>
                </a:solidFill>
                <a:latin typeface="Montserrat Medium"/>
                <a:ea typeface="Montserrat Medium"/>
                <a:cs typeface="Montserrat Medium"/>
                <a:sym typeface="Montserrat Medium"/>
              </a:rPr>
              <a:t>Visualisation des distributions, tendances, valeurs extrêmes et anomalies.</a:t>
            </a:r>
          </a:p>
          <a:p>
            <a:pPr algn="l">
              <a:lnSpc>
                <a:spcPts val="44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352351" y="1914359"/>
            <a:ext cx="4949126" cy="5362176"/>
          </a:xfrm>
          <a:custGeom>
            <a:avLst/>
            <a:gdLst/>
            <a:ahLst/>
            <a:cxnLst/>
            <a:rect r="r" b="b" t="t" l="l"/>
            <a:pathLst>
              <a:path h="5362176" w="4949126">
                <a:moveTo>
                  <a:pt x="0" y="0"/>
                </a:moveTo>
                <a:lnTo>
                  <a:pt x="4949126" y="0"/>
                </a:lnTo>
                <a:lnTo>
                  <a:pt x="4949126" y="5362176"/>
                </a:lnTo>
                <a:lnTo>
                  <a:pt x="0" y="5362176"/>
                </a:lnTo>
                <a:lnTo>
                  <a:pt x="0" y="0"/>
                </a:lnTo>
                <a:close/>
              </a:path>
            </a:pathLst>
          </a:custGeom>
          <a:blipFill>
            <a:blip r:embed="rId10"/>
            <a:stretch>
              <a:fillRect l="0" t="0" r="-5503" b="0"/>
            </a:stretch>
          </a:blipFill>
        </p:spPr>
      </p:sp>
      <p:sp>
        <p:nvSpPr>
          <p:cNvPr name="Freeform 8" id="8"/>
          <p:cNvSpPr/>
          <p:nvPr/>
        </p:nvSpPr>
        <p:spPr>
          <a:xfrm flipH="false" flipV="false" rot="0">
            <a:off x="3037093" y="1914359"/>
            <a:ext cx="5631978" cy="5367492"/>
          </a:xfrm>
          <a:custGeom>
            <a:avLst/>
            <a:gdLst/>
            <a:ahLst/>
            <a:cxnLst/>
            <a:rect r="r" b="b" t="t" l="l"/>
            <a:pathLst>
              <a:path h="5367492" w="5631978">
                <a:moveTo>
                  <a:pt x="0" y="0"/>
                </a:moveTo>
                <a:lnTo>
                  <a:pt x="5631978" y="0"/>
                </a:lnTo>
                <a:lnTo>
                  <a:pt x="5631978" y="5367492"/>
                </a:lnTo>
                <a:lnTo>
                  <a:pt x="0" y="5367492"/>
                </a:lnTo>
                <a:lnTo>
                  <a:pt x="0" y="0"/>
                </a:lnTo>
                <a:close/>
              </a:path>
            </a:pathLst>
          </a:custGeom>
          <a:blipFill>
            <a:blip r:embed="rId11"/>
            <a:stretch>
              <a:fillRect l="0" t="0" r="0" b="0"/>
            </a:stretch>
          </a:blipFill>
        </p:spPr>
      </p:sp>
      <p:sp>
        <p:nvSpPr>
          <p:cNvPr name="TextBox 9" id="9"/>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
        <p:nvSpPr>
          <p:cNvPr name="TextBox 8" id="8"/>
          <p:cNvSpPr txBox="true"/>
          <p:nvPr/>
        </p:nvSpPr>
        <p:spPr>
          <a:xfrm rot="0">
            <a:off x="1673929" y="2873300"/>
            <a:ext cx="13951629" cy="5011307"/>
          </a:xfrm>
          <a:prstGeom prst="rect">
            <a:avLst/>
          </a:prstGeom>
        </p:spPr>
        <p:txBody>
          <a:bodyPr anchor="t" rtlCol="false" tIns="0" lIns="0" bIns="0" rIns="0">
            <a:spAutoFit/>
          </a:bodyPr>
          <a:lstStyle/>
          <a:p>
            <a:pPr algn="l">
              <a:lnSpc>
                <a:spcPts val="3611"/>
              </a:lnSpc>
            </a:pPr>
            <a:r>
              <a:rPr lang="en-US" sz="2579">
                <a:solidFill>
                  <a:srgbClr val="FFFFFF"/>
                </a:solidFill>
                <a:latin typeface="Fredoka"/>
                <a:ea typeface="Fredoka"/>
                <a:cs typeface="Fredoka"/>
                <a:sym typeface="Fredoka"/>
              </a:rPr>
              <a:t>Analyse descriptive comparative (Miscarriage vs No_Miscarriage) :</a:t>
            </a:r>
          </a:p>
          <a:p>
            <a:pPr algn="l" marL="556899" indent="-278449" lvl="1">
              <a:lnSpc>
                <a:spcPts val="3611"/>
              </a:lnSpc>
              <a:buFont typeface="Arial"/>
              <a:buChar char="•"/>
            </a:pPr>
            <a:r>
              <a:rPr lang="en-US" sz="2579">
                <a:solidFill>
                  <a:srgbClr val="FFFFFF"/>
                </a:solidFill>
                <a:latin typeface="Fredoka"/>
                <a:ea typeface="Fredoka"/>
                <a:cs typeface="Fredoka"/>
                <a:sym typeface="Fredoka"/>
              </a:rPr>
              <a:t>Variables numériques : Age, BMI, bpm, temp</a:t>
            </a:r>
          </a:p>
          <a:p>
            <a:pPr algn="l" marL="556899" indent="-278449" lvl="1">
              <a:lnSpc>
                <a:spcPts val="3611"/>
              </a:lnSpc>
              <a:buFont typeface="Arial"/>
              <a:buChar char="•"/>
            </a:pPr>
            <a:r>
              <a:rPr lang="en-US" sz="2579">
                <a:solidFill>
                  <a:srgbClr val="FFFFFF"/>
                </a:solidFill>
                <a:latin typeface="Fredoka"/>
                <a:ea typeface="Fredoka"/>
                <a:cs typeface="Fredoka"/>
                <a:sym typeface="Fredoka"/>
              </a:rPr>
              <a:t>Résultats clés :</a:t>
            </a:r>
          </a:p>
          <a:p>
            <a:pPr algn="l" marL="1113798" indent="-371266" lvl="2">
              <a:lnSpc>
                <a:spcPts val="3611"/>
              </a:lnSpc>
              <a:buFont typeface="Arial"/>
              <a:buChar char="⚬"/>
            </a:pPr>
            <a:r>
              <a:rPr lang="en-US" sz="2579">
                <a:solidFill>
                  <a:srgbClr val="FFFFFF"/>
                </a:solidFill>
                <a:latin typeface="Fredoka"/>
                <a:ea typeface="Fredoka"/>
                <a:cs typeface="Fredoka"/>
                <a:sym typeface="Fredoka"/>
              </a:rPr>
              <a:t>Age : légèrement plus élevé dans le groupe Miscarriage (28,93 vs 27,08 ans) → possible effet du risque lié à l’âge</a:t>
            </a:r>
          </a:p>
          <a:p>
            <a:pPr algn="l" marL="1113798" indent="-371266" lvl="2">
              <a:lnSpc>
                <a:spcPts val="3611"/>
              </a:lnSpc>
              <a:buFont typeface="Arial"/>
              <a:buChar char="⚬"/>
            </a:pPr>
            <a:r>
              <a:rPr lang="en-US" sz="2579">
                <a:solidFill>
                  <a:srgbClr val="FFFFFF"/>
                </a:solidFill>
                <a:latin typeface="Fredoka"/>
                <a:ea typeface="Fredoka"/>
                <a:cs typeface="Fredoka"/>
                <a:sym typeface="Fredoka"/>
              </a:rPr>
              <a:t>BMI : similaire (~21,6)</a:t>
            </a:r>
          </a:p>
          <a:p>
            <a:pPr algn="l" marL="1113798" indent="-371266" lvl="2">
              <a:lnSpc>
                <a:spcPts val="3611"/>
              </a:lnSpc>
              <a:buFont typeface="Arial"/>
              <a:buChar char="⚬"/>
            </a:pPr>
            <a:r>
              <a:rPr lang="en-US" sz="2579">
                <a:solidFill>
                  <a:srgbClr val="FFFFFF"/>
                </a:solidFill>
                <a:latin typeface="Fredoka"/>
                <a:ea typeface="Fredoka"/>
                <a:cs typeface="Fredoka"/>
                <a:sym typeface="Fredoka"/>
              </a:rPr>
              <a:t>bpm : similaire (~128,9)</a:t>
            </a:r>
          </a:p>
          <a:p>
            <a:pPr algn="l" marL="1113798" indent="-371266" lvl="2">
              <a:lnSpc>
                <a:spcPts val="3611"/>
              </a:lnSpc>
              <a:buFont typeface="Arial"/>
              <a:buChar char="⚬"/>
            </a:pPr>
            <a:r>
              <a:rPr lang="en-US" sz="2579">
                <a:solidFill>
                  <a:srgbClr val="FFFFFF"/>
                </a:solidFill>
                <a:latin typeface="Fredoka"/>
                <a:ea typeface="Fredoka"/>
                <a:cs typeface="Fredoka"/>
                <a:sym typeface="Fredoka"/>
              </a:rPr>
              <a:t>Température : similaire (~37,78°C)</a:t>
            </a:r>
          </a:p>
          <a:p>
            <a:pPr algn="l" marL="556899" indent="-278449" lvl="1">
              <a:lnSpc>
                <a:spcPts val="3611"/>
              </a:lnSpc>
              <a:buFont typeface="Arial"/>
              <a:buChar char="•"/>
            </a:pPr>
            <a:r>
              <a:rPr lang="en-US" sz="2579">
                <a:solidFill>
                  <a:srgbClr val="FFFFFF"/>
                </a:solidFill>
                <a:latin typeface="Fredoka"/>
                <a:ea typeface="Fredoka"/>
                <a:cs typeface="Fredoka"/>
                <a:sym typeface="Fredoka"/>
              </a:rPr>
              <a:t>Objectif : comparer les tendances centrales et identifier les variables potentiellement liées au risque.</a:t>
            </a:r>
          </a:p>
          <a:p>
            <a:pPr algn="l">
              <a:lnSpc>
                <a:spcPts val="3611"/>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857938" y="2450491"/>
            <a:ext cx="5187103" cy="5386018"/>
          </a:xfrm>
          <a:custGeom>
            <a:avLst/>
            <a:gdLst/>
            <a:ahLst/>
            <a:cxnLst/>
            <a:rect r="r" b="b" t="t" l="l"/>
            <a:pathLst>
              <a:path h="5386018" w="5187103">
                <a:moveTo>
                  <a:pt x="0" y="0"/>
                </a:moveTo>
                <a:lnTo>
                  <a:pt x="5187103" y="0"/>
                </a:lnTo>
                <a:lnTo>
                  <a:pt x="5187103" y="5386018"/>
                </a:lnTo>
                <a:lnTo>
                  <a:pt x="0" y="5386018"/>
                </a:lnTo>
                <a:lnTo>
                  <a:pt x="0" y="0"/>
                </a:lnTo>
                <a:close/>
              </a:path>
            </a:pathLst>
          </a:custGeom>
          <a:blipFill>
            <a:blip r:embed="rId10"/>
            <a:stretch>
              <a:fillRect l="0" t="0" r="0" b="0"/>
            </a:stretch>
          </a:blipFill>
        </p:spPr>
      </p:sp>
      <p:sp>
        <p:nvSpPr>
          <p:cNvPr name="TextBox 8" id="8"/>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
        <p:nvSpPr>
          <p:cNvPr name="TextBox 9" id="9"/>
          <p:cNvSpPr txBox="true"/>
          <p:nvPr/>
        </p:nvSpPr>
        <p:spPr>
          <a:xfrm rot="0">
            <a:off x="698001" y="2873300"/>
            <a:ext cx="9662088" cy="5925707"/>
          </a:xfrm>
          <a:prstGeom prst="rect">
            <a:avLst/>
          </a:prstGeom>
        </p:spPr>
        <p:txBody>
          <a:bodyPr anchor="t" rtlCol="false" tIns="0" lIns="0" bIns="0" rIns="0">
            <a:spAutoFit/>
          </a:bodyPr>
          <a:lstStyle/>
          <a:p>
            <a:pPr algn="l">
              <a:lnSpc>
                <a:spcPts val="3611"/>
              </a:lnSpc>
            </a:pPr>
            <a:r>
              <a:rPr lang="en-US" sz="2579">
                <a:solidFill>
                  <a:srgbClr val="FFFFFF"/>
                </a:solidFill>
                <a:latin typeface="Fredoka"/>
                <a:ea typeface="Fredoka"/>
                <a:cs typeface="Fredoka"/>
                <a:sym typeface="Fredoka"/>
              </a:rPr>
              <a:t>Histogrammes comparatifs par groupe :</a:t>
            </a:r>
          </a:p>
          <a:p>
            <a:pPr algn="l" marL="556899" indent="-278449" lvl="1">
              <a:lnSpc>
                <a:spcPts val="3611"/>
              </a:lnSpc>
              <a:buFont typeface="Arial"/>
              <a:buChar char="•"/>
            </a:pPr>
            <a:r>
              <a:rPr lang="en-US" sz="2579">
                <a:solidFill>
                  <a:srgbClr val="FFFFFF"/>
                </a:solidFill>
                <a:latin typeface="Fredoka"/>
                <a:ea typeface="Fredoka"/>
                <a:cs typeface="Fredoka"/>
                <a:sym typeface="Fredoka"/>
              </a:rPr>
              <a:t>Variables : Age, BMI, bpm, Temp</a:t>
            </a:r>
          </a:p>
          <a:p>
            <a:pPr algn="l" marL="556899" indent="-278449" lvl="1">
              <a:lnSpc>
                <a:spcPts val="3611"/>
              </a:lnSpc>
              <a:buFont typeface="Arial"/>
              <a:buChar char="•"/>
            </a:pPr>
            <a:r>
              <a:rPr lang="en-US" sz="2579">
                <a:solidFill>
                  <a:srgbClr val="FFFFFF"/>
                </a:solidFill>
                <a:latin typeface="Fredoka"/>
                <a:ea typeface="Fredoka"/>
                <a:cs typeface="Fredoka"/>
                <a:sym typeface="Fredoka"/>
              </a:rPr>
              <a:t>Vi</a:t>
            </a:r>
            <a:r>
              <a:rPr lang="en-US" sz="2579">
                <a:solidFill>
                  <a:srgbClr val="FFFFFF"/>
                </a:solidFill>
                <a:latin typeface="Fredoka"/>
                <a:ea typeface="Fredoka"/>
                <a:cs typeface="Fredoka"/>
                <a:sym typeface="Fredoka"/>
              </a:rPr>
              <a:t>sualisation superposée pour Miscarriage vs No_Miscarriage</a:t>
            </a:r>
          </a:p>
          <a:p>
            <a:pPr algn="l" marL="556899" indent="-278449" lvl="1">
              <a:lnSpc>
                <a:spcPts val="3611"/>
              </a:lnSpc>
              <a:buFont typeface="Arial"/>
              <a:buChar char="•"/>
            </a:pPr>
            <a:r>
              <a:rPr lang="en-US" sz="2579">
                <a:solidFill>
                  <a:srgbClr val="FFFFFF"/>
                </a:solidFill>
                <a:latin typeface="Fredoka"/>
                <a:ea typeface="Fredoka"/>
                <a:cs typeface="Fredoka"/>
                <a:sym typeface="Fredoka"/>
              </a:rPr>
              <a:t>Observations clés :</a:t>
            </a:r>
          </a:p>
          <a:p>
            <a:pPr algn="l" marL="1113798" indent="-371266" lvl="2">
              <a:lnSpc>
                <a:spcPts val="3611"/>
              </a:lnSpc>
              <a:buFont typeface="Arial"/>
              <a:buChar char="⚬"/>
            </a:pPr>
            <a:r>
              <a:rPr lang="en-US" sz="2579">
                <a:solidFill>
                  <a:srgbClr val="FFFFFF"/>
                </a:solidFill>
                <a:latin typeface="Fredoka"/>
                <a:ea typeface="Fredoka"/>
                <a:cs typeface="Fredoka"/>
                <a:sym typeface="Fredoka"/>
              </a:rPr>
              <a:t>Age : légère tendance des patientes avec fausse couche vers des âges plus élevés (28–32 ans)</a:t>
            </a:r>
          </a:p>
          <a:p>
            <a:pPr algn="l" marL="1113798" indent="-371266" lvl="2">
              <a:lnSpc>
                <a:spcPts val="3611"/>
              </a:lnSpc>
              <a:buFont typeface="Arial"/>
              <a:buChar char="⚬"/>
            </a:pPr>
            <a:r>
              <a:rPr lang="en-US" sz="2579">
                <a:solidFill>
                  <a:srgbClr val="FFFFFF"/>
                </a:solidFill>
                <a:latin typeface="Fredoka"/>
                <a:ea typeface="Fredoka"/>
                <a:cs typeface="Fredoka"/>
                <a:sym typeface="Fredoka"/>
              </a:rPr>
              <a:t>No_Miscarriage : principalement 24–27 ans</a:t>
            </a:r>
          </a:p>
          <a:p>
            <a:pPr algn="l" marL="1113798" indent="-371266" lvl="2">
              <a:lnSpc>
                <a:spcPts val="3611"/>
              </a:lnSpc>
              <a:buFont typeface="Arial"/>
              <a:buChar char="⚬"/>
            </a:pPr>
            <a:r>
              <a:rPr lang="en-US" sz="2579">
                <a:solidFill>
                  <a:srgbClr val="FFFFFF"/>
                </a:solidFill>
                <a:latin typeface="Fredoka"/>
                <a:ea typeface="Fredoka"/>
                <a:cs typeface="Fredoka"/>
                <a:sym typeface="Fredoka"/>
              </a:rPr>
              <a:t>BMI, bpm, Temp : distributions très similaires</a:t>
            </a:r>
          </a:p>
          <a:p>
            <a:pPr algn="l" marL="556899" indent="-278449" lvl="1">
              <a:lnSpc>
                <a:spcPts val="3611"/>
              </a:lnSpc>
              <a:buFont typeface="Arial"/>
              <a:buChar char="•"/>
            </a:pPr>
            <a:r>
              <a:rPr lang="en-US" sz="2579">
                <a:solidFill>
                  <a:srgbClr val="FFFFFF"/>
                </a:solidFill>
                <a:latin typeface="Fredoka"/>
                <a:ea typeface="Fredoka"/>
                <a:cs typeface="Fredoka"/>
                <a:sym typeface="Fredoka"/>
              </a:rPr>
              <a:t>Con</a:t>
            </a:r>
            <a:r>
              <a:rPr lang="en-US" sz="2579">
                <a:solidFill>
                  <a:srgbClr val="FFFFFF"/>
                </a:solidFill>
                <a:latin typeface="Fredoka"/>
                <a:ea typeface="Fredoka"/>
                <a:cs typeface="Fredoka"/>
                <a:sym typeface="Fredoka"/>
              </a:rPr>
              <a:t>clusion : l’âge pourrait influencer modestement le risque, mais un chevauchement important existe entre les groupes.</a:t>
            </a:r>
          </a:p>
          <a:p>
            <a:pPr algn="l">
              <a:lnSpc>
                <a:spcPts val="3611"/>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468106" y="2780156"/>
            <a:ext cx="5252744" cy="5362176"/>
          </a:xfrm>
          <a:custGeom>
            <a:avLst/>
            <a:gdLst/>
            <a:ahLst/>
            <a:cxnLst/>
            <a:rect r="r" b="b" t="t" l="l"/>
            <a:pathLst>
              <a:path h="5362176" w="5252744">
                <a:moveTo>
                  <a:pt x="0" y="0"/>
                </a:moveTo>
                <a:lnTo>
                  <a:pt x="5252744" y="0"/>
                </a:lnTo>
                <a:lnTo>
                  <a:pt x="5252744" y="5362176"/>
                </a:lnTo>
                <a:lnTo>
                  <a:pt x="0" y="5362176"/>
                </a:lnTo>
                <a:lnTo>
                  <a:pt x="0" y="0"/>
                </a:lnTo>
                <a:close/>
              </a:path>
            </a:pathLst>
          </a:custGeom>
          <a:blipFill>
            <a:blip r:embed="rId10"/>
            <a:stretch>
              <a:fillRect l="0" t="0" r="0" b="0"/>
            </a:stretch>
          </a:blipFill>
        </p:spPr>
      </p:sp>
      <p:sp>
        <p:nvSpPr>
          <p:cNvPr name="TextBox 8" id="8"/>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
        <p:nvSpPr>
          <p:cNvPr name="TextBox 9" id="9"/>
          <p:cNvSpPr txBox="true"/>
          <p:nvPr/>
        </p:nvSpPr>
        <p:spPr>
          <a:xfrm rot="0">
            <a:off x="1328436" y="2873300"/>
            <a:ext cx="6595444" cy="6170290"/>
          </a:xfrm>
          <a:prstGeom prst="rect">
            <a:avLst/>
          </a:prstGeom>
        </p:spPr>
        <p:txBody>
          <a:bodyPr anchor="t" rtlCol="false" tIns="0" lIns="0" bIns="0" rIns="0">
            <a:spAutoFit/>
          </a:bodyPr>
          <a:lstStyle/>
          <a:p>
            <a:pPr algn="l">
              <a:lnSpc>
                <a:spcPts val="3780"/>
              </a:lnSpc>
            </a:pPr>
            <a:r>
              <a:rPr lang="en-US" sz="2700">
                <a:solidFill>
                  <a:srgbClr val="FFFFFF"/>
                </a:solidFill>
                <a:latin typeface="Fredoka"/>
                <a:ea typeface="Fredoka"/>
                <a:cs typeface="Fredoka"/>
                <a:sym typeface="Fredoka"/>
              </a:rPr>
              <a:t>Boxplots par groupe (Miscarriage vs No_Miscarriage) :</a:t>
            </a:r>
          </a:p>
          <a:p>
            <a:pPr algn="l" marL="582972" indent="-291486" lvl="1">
              <a:lnSpc>
                <a:spcPts val="3780"/>
              </a:lnSpc>
              <a:buFont typeface="Arial"/>
              <a:buChar char="•"/>
            </a:pPr>
            <a:r>
              <a:rPr lang="en-US" sz="2700">
                <a:solidFill>
                  <a:srgbClr val="FFFFFF"/>
                </a:solidFill>
                <a:latin typeface="Fredoka"/>
                <a:ea typeface="Fredoka"/>
                <a:cs typeface="Fredoka"/>
                <a:sym typeface="Fredoka"/>
              </a:rPr>
              <a:t>Variables : </a:t>
            </a:r>
            <a:r>
              <a:rPr lang="en-US" sz="2700">
                <a:solidFill>
                  <a:srgbClr val="FFFFFF"/>
                </a:solidFill>
                <a:latin typeface="Fredoka"/>
                <a:ea typeface="Fredoka"/>
                <a:cs typeface="Fredoka"/>
                <a:sym typeface="Fredoka"/>
              </a:rPr>
              <a:t>Age, BMI, bpm, Temp</a:t>
            </a:r>
          </a:p>
          <a:p>
            <a:pPr algn="l" marL="582972" indent="-291486" lvl="1">
              <a:lnSpc>
                <a:spcPts val="3780"/>
              </a:lnSpc>
              <a:buFont typeface="Arial"/>
              <a:buChar char="•"/>
            </a:pPr>
            <a:r>
              <a:rPr lang="en-US" sz="2700">
                <a:solidFill>
                  <a:srgbClr val="FFFFFF"/>
                </a:solidFill>
                <a:latin typeface="Fredoka"/>
                <a:ea typeface="Fredoka"/>
                <a:cs typeface="Fredoka"/>
                <a:sym typeface="Fredoka"/>
              </a:rPr>
              <a:t>Visualisation : médiane, quartiles et valeurs extrêmes</a:t>
            </a:r>
          </a:p>
          <a:p>
            <a:pPr algn="l" marL="582972" indent="-291486" lvl="1">
              <a:lnSpc>
                <a:spcPts val="3780"/>
              </a:lnSpc>
              <a:buFont typeface="Arial"/>
              <a:buChar char="•"/>
            </a:pPr>
            <a:r>
              <a:rPr lang="en-US" sz="2700">
                <a:solidFill>
                  <a:srgbClr val="FFFFFF"/>
                </a:solidFill>
                <a:latin typeface="Fredoka"/>
                <a:ea typeface="Fredoka"/>
                <a:cs typeface="Fredoka"/>
                <a:sym typeface="Fredoka"/>
              </a:rPr>
              <a:t>Observations clés :</a:t>
            </a:r>
          </a:p>
          <a:p>
            <a:pPr algn="l" marL="1165944" indent="-388648" lvl="2">
              <a:lnSpc>
                <a:spcPts val="3780"/>
              </a:lnSpc>
              <a:buFont typeface="Arial"/>
              <a:buChar char="⚬"/>
            </a:pPr>
            <a:r>
              <a:rPr lang="en-US" sz="2700">
                <a:solidFill>
                  <a:srgbClr val="FFFFFF"/>
                </a:solidFill>
                <a:latin typeface="Fredoka"/>
                <a:ea typeface="Fredoka"/>
                <a:cs typeface="Fredoka"/>
                <a:sym typeface="Fredoka"/>
              </a:rPr>
              <a:t>Age : légèrement plus élevé dans le groupe Miscarriage</a:t>
            </a:r>
          </a:p>
          <a:p>
            <a:pPr algn="l" marL="1165944" indent="-388648" lvl="2">
              <a:lnSpc>
                <a:spcPts val="3780"/>
              </a:lnSpc>
              <a:buFont typeface="Arial"/>
              <a:buChar char="⚬"/>
            </a:pPr>
            <a:r>
              <a:rPr lang="en-US" sz="2700">
                <a:solidFill>
                  <a:srgbClr val="FFFFFF"/>
                </a:solidFill>
                <a:latin typeface="Fredoka"/>
                <a:ea typeface="Fredoka"/>
                <a:cs typeface="Fredoka"/>
                <a:sym typeface="Fredoka"/>
              </a:rPr>
              <a:t>BMI, bpm, Temp : distributions similaires entre les groupes</a:t>
            </a:r>
          </a:p>
          <a:p>
            <a:pPr algn="l" marL="582972" indent="-291486" lvl="1">
              <a:lnSpc>
                <a:spcPts val="3780"/>
              </a:lnSpc>
              <a:buFont typeface="Arial"/>
              <a:buChar char="•"/>
            </a:pPr>
            <a:r>
              <a:rPr lang="en-US" sz="2700">
                <a:solidFill>
                  <a:srgbClr val="FFFFFF"/>
                </a:solidFill>
                <a:latin typeface="Fredoka"/>
                <a:ea typeface="Fredoka"/>
                <a:cs typeface="Fredoka"/>
                <a:sym typeface="Fredoka"/>
              </a:rPr>
              <a:t>Confirme les tendances observées avec les histogrammes.</a:t>
            </a:r>
          </a:p>
          <a:p>
            <a:pPr algn="l">
              <a:lnSpc>
                <a:spcPts val="378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6.EDA Univariée - Variables Numériques</a:t>
            </a:r>
          </a:p>
          <a:p>
            <a:pPr algn="l">
              <a:lnSpc>
                <a:spcPts val="6580"/>
              </a:lnSpc>
            </a:pPr>
          </a:p>
        </p:txBody>
      </p:sp>
      <p:sp>
        <p:nvSpPr>
          <p:cNvPr name="TextBox 8" id="8"/>
          <p:cNvSpPr txBox="true"/>
          <p:nvPr/>
        </p:nvSpPr>
        <p:spPr>
          <a:xfrm rot="0">
            <a:off x="1328436" y="2863775"/>
            <a:ext cx="13116337" cy="4827961"/>
          </a:xfrm>
          <a:prstGeom prst="rect">
            <a:avLst/>
          </a:prstGeom>
        </p:spPr>
        <p:txBody>
          <a:bodyPr anchor="t" rtlCol="false" tIns="0" lIns="0" bIns="0" rIns="0">
            <a:spAutoFit/>
          </a:bodyPr>
          <a:lstStyle/>
          <a:p>
            <a:pPr algn="l">
              <a:lnSpc>
                <a:spcPts val="3842"/>
              </a:lnSpc>
            </a:pPr>
            <a:r>
              <a:rPr lang="en-US" sz="2744">
                <a:solidFill>
                  <a:srgbClr val="FFFFFF"/>
                </a:solidFill>
                <a:latin typeface="Fredoka"/>
                <a:ea typeface="Fredoka"/>
                <a:cs typeface="Fredoka"/>
                <a:sym typeface="Fredoka"/>
              </a:rPr>
              <a:t>Test t – Comparaison de l’Age entre les groupes :</a:t>
            </a:r>
          </a:p>
          <a:p>
            <a:pPr algn="l" marL="592522" indent="-296261" lvl="1">
              <a:lnSpc>
                <a:spcPts val="3842"/>
              </a:lnSpc>
              <a:buFont typeface="Arial"/>
              <a:buChar char="•"/>
            </a:pPr>
            <a:r>
              <a:rPr lang="en-US" sz="2744">
                <a:solidFill>
                  <a:srgbClr val="FFFFFF"/>
                </a:solidFill>
                <a:latin typeface="Fredoka"/>
                <a:ea typeface="Fredoka"/>
                <a:cs typeface="Fredoka"/>
                <a:sym typeface="Fredoka"/>
              </a:rPr>
              <a:t>Objectif : comparer la moyenne d’Age (No_Miscarriage vs Miscarriage)</a:t>
            </a:r>
          </a:p>
          <a:p>
            <a:pPr algn="l" marL="592522" indent="-296261" lvl="1">
              <a:lnSpc>
                <a:spcPts val="3842"/>
              </a:lnSpc>
              <a:buFont typeface="Arial"/>
              <a:buChar char="•"/>
            </a:pPr>
            <a:r>
              <a:rPr lang="en-US" sz="2744">
                <a:solidFill>
                  <a:srgbClr val="FFFFFF"/>
                </a:solidFill>
                <a:latin typeface="Fredoka"/>
                <a:ea typeface="Fredoka"/>
                <a:cs typeface="Fredoka"/>
                <a:sym typeface="Fredoka"/>
              </a:rPr>
              <a:t>T</a:t>
            </a:r>
            <a:r>
              <a:rPr lang="en-US" sz="2744">
                <a:solidFill>
                  <a:srgbClr val="FFFFFF"/>
                </a:solidFill>
                <a:latin typeface="Fredoka"/>
                <a:ea typeface="Fredoka"/>
                <a:cs typeface="Fredoka"/>
                <a:sym typeface="Fredoka"/>
              </a:rPr>
              <a:t>est : W</a:t>
            </a:r>
            <a:r>
              <a:rPr lang="en-US" sz="2744">
                <a:solidFill>
                  <a:srgbClr val="FFFFFF"/>
                </a:solidFill>
                <a:latin typeface="Fredoka"/>
                <a:ea typeface="Fredoka"/>
                <a:cs typeface="Fredoka"/>
                <a:sym typeface="Fredoka"/>
              </a:rPr>
              <a:t>elch Two Sample t-test (variances inégales)</a:t>
            </a:r>
          </a:p>
          <a:p>
            <a:pPr algn="l" marL="592522" indent="-296261" lvl="1">
              <a:lnSpc>
                <a:spcPts val="3842"/>
              </a:lnSpc>
              <a:buFont typeface="Arial"/>
              <a:buChar char="•"/>
            </a:pPr>
            <a:r>
              <a:rPr lang="en-US" sz="2744">
                <a:solidFill>
                  <a:srgbClr val="FFFFFF"/>
                </a:solidFill>
                <a:latin typeface="Fredoka"/>
                <a:ea typeface="Fredoka"/>
                <a:cs typeface="Fredoka"/>
                <a:sym typeface="Fredoka"/>
              </a:rPr>
              <a:t>Ré</a:t>
            </a:r>
            <a:r>
              <a:rPr lang="en-US" sz="2744">
                <a:solidFill>
                  <a:srgbClr val="FFFFFF"/>
                </a:solidFill>
                <a:latin typeface="Fredoka"/>
                <a:ea typeface="Fredoka"/>
                <a:cs typeface="Fredoka"/>
                <a:sym typeface="Fredoka"/>
              </a:rPr>
              <a:t>sultats :</a:t>
            </a:r>
          </a:p>
          <a:p>
            <a:pPr algn="l" marL="1185045" indent="-395015" lvl="2">
              <a:lnSpc>
                <a:spcPts val="3842"/>
              </a:lnSpc>
              <a:buFont typeface="Arial"/>
              <a:buChar char="⚬"/>
            </a:pPr>
            <a:r>
              <a:rPr lang="en-US" sz="2744">
                <a:solidFill>
                  <a:srgbClr val="FFFFFF"/>
                </a:solidFill>
                <a:latin typeface="Fredoka"/>
                <a:ea typeface="Fredoka"/>
                <a:cs typeface="Fredoka"/>
                <a:sym typeface="Fredoka"/>
              </a:rPr>
              <a:t>Moy</a:t>
            </a:r>
            <a:r>
              <a:rPr lang="en-US" sz="2744">
                <a:solidFill>
                  <a:srgbClr val="FFFFFF"/>
                </a:solidFill>
                <a:latin typeface="Fredoka"/>
                <a:ea typeface="Fredoka"/>
                <a:cs typeface="Fredoka"/>
                <a:sym typeface="Fredoka"/>
              </a:rPr>
              <a:t>ennes : 27,08 (No_Miscarriage) vs 28,93 (Miscarriage)</a:t>
            </a:r>
          </a:p>
          <a:p>
            <a:pPr algn="l" marL="1185045" indent="-395015" lvl="2">
              <a:lnSpc>
                <a:spcPts val="3842"/>
              </a:lnSpc>
              <a:buFont typeface="Arial"/>
              <a:buChar char="⚬"/>
            </a:pPr>
            <a:r>
              <a:rPr lang="en-US" sz="2744">
                <a:solidFill>
                  <a:srgbClr val="FFFFFF"/>
                </a:solidFill>
                <a:latin typeface="Fredoka"/>
                <a:ea typeface="Fredoka"/>
                <a:cs typeface="Fredoka"/>
                <a:sym typeface="Fredoka"/>
              </a:rPr>
              <a:t>t = -255</a:t>
            </a:r>
            <a:r>
              <a:rPr lang="en-US" sz="2744">
                <a:solidFill>
                  <a:srgbClr val="FFFFFF"/>
                </a:solidFill>
                <a:latin typeface="Fredoka"/>
                <a:ea typeface="Fredoka"/>
                <a:cs typeface="Fredoka"/>
                <a:sym typeface="Fredoka"/>
              </a:rPr>
              <a:t>, df ≈ 991 884, p-value &lt; 2,2e-16</a:t>
            </a:r>
          </a:p>
          <a:p>
            <a:pPr algn="l" marL="1185045" indent="-395015" lvl="2">
              <a:lnSpc>
                <a:spcPts val="3842"/>
              </a:lnSpc>
              <a:buFont typeface="Arial"/>
              <a:buChar char="⚬"/>
            </a:pPr>
            <a:r>
              <a:rPr lang="en-US" sz="2744">
                <a:solidFill>
                  <a:srgbClr val="FFFFFF"/>
                </a:solidFill>
                <a:latin typeface="Fredoka"/>
                <a:ea typeface="Fredoka"/>
                <a:cs typeface="Fredoka"/>
                <a:sym typeface="Fredoka"/>
              </a:rPr>
              <a:t>IC 95 % pour la différence : [-1,86 ; -1,83]</a:t>
            </a:r>
          </a:p>
          <a:p>
            <a:pPr algn="l" marL="592522" indent="-296261" lvl="1">
              <a:lnSpc>
                <a:spcPts val="3842"/>
              </a:lnSpc>
              <a:buFont typeface="Arial"/>
              <a:buChar char="•"/>
            </a:pPr>
            <a:r>
              <a:rPr lang="en-US" sz="2744">
                <a:solidFill>
                  <a:srgbClr val="FFFFFF"/>
                </a:solidFill>
                <a:latin typeface="Fredoka"/>
                <a:ea typeface="Fredoka"/>
                <a:cs typeface="Fredoka"/>
                <a:sym typeface="Fredoka"/>
              </a:rPr>
              <a:t>Interprétation : différence significative → les femmes ayant fait une fausse couche sont en moyenne ~1,85 an plus âgées.</a:t>
            </a:r>
          </a:p>
          <a:p>
            <a:pPr algn="l">
              <a:lnSpc>
                <a:spcPts val="3842"/>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988214" y="2920925"/>
            <a:ext cx="4575664" cy="5572084"/>
          </a:xfrm>
          <a:custGeom>
            <a:avLst/>
            <a:gdLst/>
            <a:ahLst/>
            <a:cxnLst/>
            <a:rect r="r" b="b" t="t" l="l"/>
            <a:pathLst>
              <a:path h="5572084" w="4575664">
                <a:moveTo>
                  <a:pt x="0" y="0"/>
                </a:moveTo>
                <a:lnTo>
                  <a:pt x="4575664" y="0"/>
                </a:lnTo>
                <a:lnTo>
                  <a:pt x="4575664" y="5572084"/>
                </a:lnTo>
                <a:lnTo>
                  <a:pt x="0" y="5572084"/>
                </a:lnTo>
                <a:lnTo>
                  <a:pt x="0" y="0"/>
                </a:lnTo>
                <a:close/>
              </a:path>
            </a:pathLst>
          </a:custGeom>
          <a:blipFill>
            <a:blip r:embed="rId10"/>
            <a:stretch>
              <a:fillRect l="0" t="0" r="0" b="0"/>
            </a:stretch>
          </a:blipFill>
        </p:spPr>
      </p:sp>
      <p:sp>
        <p:nvSpPr>
          <p:cNvPr name="TextBox 8" id="8"/>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7.EDA Univariée - Variables Catégorielles</a:t>
            </a:r>
          </a:p>
          <a:p>
            <a:pPr algn="l">
              <a:lnSpc>
                <a:spcPts val="6580"/>
              </a:lnSpc>
            </a:pPr>
          </a:p>
        </p:txBody>
      </p:sp>
      <p:sp>
        <p:nvSpPr>
          <p:cNvPr name="TextBox 9" id="9"/>
          <p:cNvSpPr txBox="true"/>
          <p:nvPr/>
        </p:nvSpPr>
        <p:spPr>
          <a:xfrm rot="0">
            <a:off x="1328436" y="2863775"/>
            <a:ext cx="7402759" cy="4827961"/>
          </a:xfrm>
          <a:prstGeom prst="rect">
            <a:avLst/>
          </a:prstGeom>
        </p:spPr>
        <p:txBody>
          <a:bodyPr anchor="t" rtlCol="false" tIns="0" lIns="0" bIns="0" rIns="0">
            <a:spAutoFit/>
          </a:bodyPr>
          <a:lstStyle/>
          <a:p>
            <a:pPr algn="l" marL="592522" indent="-296261" lvl="1">
              <a:lnSpc>
                <a:spcPts val="3842"/>
              </a:lnSpc>
              <a:buFont typeface="Arial"/>
              <a:buChar char="•"/>
            </a:pPr>
            <a:r>
              <a:rPr lang="en-US" sz="2744">
                <a:solidFill>
                  <a:srgbClr val="FFFFFF"/>
                </a:solidFill>
                <a:latin typeface="Fredoka"/>
                <a:ea typeface="Fredoka"/>
                <a:cs typeface="Fredoka"/>
                <a:sym typeface="Fredoka"/>
              </a:rPr>
              <a:t>Proportions de stress similaires entre les groupes</a:t>
            </a:r>
          </a:p>
          <a:p>
            <a:pPr algn="l" marL="592522" indent="-296261" lvl="1">
              <a:lnSpc>
                <a:spcPts val="3842"/>
              </a:lnSpc>
              <a:buFont typeface="Arial"/>
              <a:buChar char="•"/>
            </a:pPr>
            <a:r>
              <a:rPr lang="en-US" sz="2744">
                <a:solidFill>
                  <a:srgbClr val="FFFFFF"/>
                </a:solidFill>
                <a:latin typeface="Fredoka"/>
                <a:ea typeface="Fredoka"/>
                <a:cs typeface="Fredoka"/>
                <a:sym typeface="Fredoka"/>
              </a:rPr>
              <a:t>Niveaux 0 et 1 les plus fréqu</a:t>
            </a:r>
            <a:r>
              <a:rPr lang="en-US" sz="2744">
                <a:solidFill>
                  <a:srgbClr val="FFFFFF"/>
                </a:solidFill>
                <a:latin typeface="Fredoka"/>
                <a:ea typeface="Fredoka"/>
                <a:cs typeface="Fredoka"/>
                <a:sym typeface="Fredoka"/>
              </a:rPr>
              <a:t>ents ; niv</a:t>
            </a:r>
            <a:r>
              <a:rPr lang="en-US" sz="2744">
                <a:solidFill>
                  <a:srgbClr val="FFFFFF"/>
                </a:solidFill>
                <a:latin typeface="Fredoka"/>
                <a:ea typeface="Fredoka"/>
                <a:cs typeface="Fredoka"/>
                <a:sym typeface="Fredoka"/>
              </a:rPr>
              <a:t>eau 3 légèrement plus présent dans Miscarriage</a:t>
            </a:r>
          </a:p>
          <a:p>
            <a:pPr algn="l" marL="592522" indent="-296261" lvl="1">
              <a:lnSpc>
                <a:spcPts val="3842"/>
              </a:lnSpc>
              <a:buFont typeface="Arial"/>
              <a:buChar char="•"/>
            </a:pPr>
            <a:r>
              <a:rPr lang="en-US" sz="2744">
                <a:solidFill>
                  <a:srgbClr val="FFFFFF"/>
                </a:solidFill>
                <a:latin typeface="Fredoka"/>
                <a:ea typeface="Fredoka"/>
                <a:cs typeface="Fredoka"/>
                <a:sym typeface="Fredoka"/>
              </a:rPr>
              <a:t>Barplot proportionnel</a:t>
            </a:r>
            <a:r>
              <a:rPr lang="en-US" sz="2744">
                <a:solidFill>
                  <a:srgbClr val="FFFFFF"/>
                </a:solidFill>
                <a:latin typeface="Fredoka"/>
                <a:ea typeface="Fredoka"/>
                <a:cs typeface="Fredoka"/>
                <a:sym typeface="Fredoka"/>
              </a:rPr>
              <a:t> (</a:t>
            </a:r>
            <a:r>
              <a:rPr lang="en-US" sz="2744">
                <a:solidFill>
                  <a:srgbClr val="FFFFFF"/>
                </a:solidFill>
                <a:latin typeface="Fredoka"/>
                <a:ea typeface="Fredoka"/>
                <a:cs typeface="Fredoka"/>
                <a:sym typeface="Fredoka"/>
              </a:rPr>
              <a:t>axe y en %) pour comparer les groupes</a:t>
            </a:r>
          </a:p>
          <a:p>
            <a:pPr algn="l" marL="592522" indent="-296261" lvl="1">
              <a:lnSpc>
                <a:spcPts val="3842"/>
              </a:lnSpc>
              <a:buFont typeface="Arial"/>
              <a:buChar char="•"/>
            </a:pPr>
            <a:r>
              <a:rPr lang="en-US" sz="2744">
                <a:solidFill>
                  <a:srgbClr val="FFFFFF"/>
                </a:solidFill>
                <a:latin typeface="Fredoka"/>
                <a:ea typeface="Fredoka"/>
                <a:cs typeface="Fredoka"/>
                <a:sym typeface="Fredoka"/>
              </a:rPr>
              <a:t>Co</a:t>
            </a:r>
            <a:r>
              <a:rPr lang="en-US" sz="2744">
                <a:solidFill>
                  <a:srgbClr val="FFFFFF"/>
                </a:solidFill>
                <a:latin typeface="Fredoka"/>
                <a:ea typeface="Fredoka"/>
                <a:cs typeface="Fredoka"/>
                <a:sym typeface="Fredoka"/>
              </a:rPr>
              <a:t>nclusion : stress ne semble pas différencier fortement les groupes</a:t>
            </a:r>
          </a:p>
          <a:p>
            <a:pPr algn="l">
              <a:lnSpc>
                <a:spcPts val="3842"/>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348100" y="-905428"/>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7.EDA Univariée - Variables Catégorielles</a:t>
            </a:r>
          </a:p>
          <a:p>
            <a:pPr algn="l">
              <a:lnSpc>
                <a:spcPts val="6580"/>
              </a:lnSpc>
            </a:pPr>
          </a:p>
        </p:txBody>
      </p:sp>
      <p:sp>
        <p:nvSpPr>
          <p:cNvPr name="TextBox 8" id="8"/>
          <p:cNvSpPr txBox="true"/>
          <p:nvPr/>
        </p:nvSpPr>
        <p:spPr>
          <a:xfrm rot="0">
            <a:off x="2395148" y="3039282"/>
            <a:ext cx="11828476" cy="3375805"/>
          </a:xfrm>
          <a:prstGeom prst="rect">
            <a:avLst/>
          </a:prstGeom>
        </p:spPr>
        <p:txBody>
          <a:bodyPr anchor="t" rtlCol="false" tIns="0" lIns="0" bIns="0" rIns="0">
            <a:spAutoFit/>
          </a:bodyPr>
          <a:lstStyle/>
          <a:p>
            <a:pPr algn="l" marL="592522" indent="-296261" lvl="1">
              <a:lnSpc>
                <a:spcPts val="3842"/>
              </a:lnSpc>
              <a:buFont typeface="Arial"/>
              <a:buChar char="•"/>
            </a:pPr>
            <a:r>
              <a:rPr lang="en-US" sz="2744">
                <a:solidFill>
                  <a:srgbClr val="FFFFFF"/>
                </a:solidFill>
                <a:latin typeface="Fredoka"/>
                <a:ea typeface="Fredoka"/>
                <a:cs typeface="Fredoka"/>
                <a:sym typeface="Fredoka"/>
              </a:rPr>
              <a:t>Test du Chi² – Drunk vs Miscarriage</a:t>
            </a:r>
          </a:p>
          <a:p>
            <a:pPr algn="l" marL="592522" indent="-296261" lvl="1">
              <a:lnSpc>
                <a:spcPts val="3842"/>
              </a:lnSpc>
              <a:buFont typeface="Arial"/>
              <a:buChar char="•"/>
            </a:pPr>
            <a:r>
              <a:rPr lang="en-US" sz="2744">
                <a:solidFill>
                  <a:srgbClr val="FFFFFF"/>
                </a:solidFill>
                <a:latin typeface="Fredoka"/>
                <a:ea typeface="Fredoka"/>
                <a:cs typeface="Fredoka"/>
                <a:sym typeface="Fredoka"/>
              </a:rPr>
              <a:t>Objectif : vérifier l’association entre consommation d’alcool et fausse couche</a:t>
            </a:r>
          </a:p>
          <a:p>
            <a:pPr algn="l" marL="592522" indent="-296261" lvl="1">
              <a:lnSpc>
                <a:spcPts val="3842"/>
              </a:lnSpc>
              <a:buFont typeface="Arial"/>
              <a:buChar char="•"/>
            </a:pPr>
            <a:r>
              <a:rPr lang="en-US" sz="2744">
                <a:solidFill>
                  <a:srgbClr val="FFFFFF"/>
                </a:solidFill>
                <a:latin typeface="Fredoka"/>
                <a:ea typeface="Fredoka"/>
                <a:cs typeface="Fredoka"/>
                <a:sym typeface="Fredoka"/>
              </a:rPr>
              <a:t>Résulta</a:t>
            </a:r>
            <a:r>
              <a:rPr lang="en-US" sz="2744">
                <a:solidFill>
                  <a:srgbClr val="FFFFFF"/>
                </a:solidFill>
                <a:latin typeface="Fredoka"/>
                <a:ea typeface="Fredoka"/>
                <a:cs typeface="Fredoka"/>
                <a:sym typeface="Fredoka"/>
              </a:rPr>
              <a:t>ts : Chi² =</a:t>
            </a:r>
            <a:r>
              <a:rPr lang="en-US" sz="2744">
                <a:solidFill>
                  <a:srgbClr val="FFFFFF"/>
                </a:solidFill>
                <a:latin typeface="Fredoka"/>
                <a:ea typeface="Fredoka"/>
                <a:cs typeface="Fredoka"/>
                <a:sym typeface="Fredoka"/>
              </a:rPr>
              <a:t> 0,823, df = 2, p-value = 0,6627</a:t>
            </a:r>
          </a:p>
          <a:p>
            <a:pPr algn="l" marL="592522" indent="-296261" lvl="1">
              <a:lnSpc>
                <a:spcPts val="3842"/>
              </a:lnSpc>
              <a:buFont typeface="Arial"/>
              <a:buChar char="•"/>
            </a:pPr>
            <a:r>
              <a:rPr lang="en-US" sz="2744">
                <a:solidFill>
                  <a:srgbClr val="FFFFFF"/>
                </a:solidFill>
                <a:latin typeface="Fredoka"/>
                <a:ea typeface="Fredoka"/>
                <a:cs typeface="Fredoka"/>
                <a:sym typeface="Fredoka"/>
              </a:rPr>
              <a:t>In</a:t>
            </a:r>
            <a:r>
              <a:rPr lang="en-US" sz="2744">
                <a:solidFill>
                  <a:srgbClr val="FFFFFF"/>
                </a:solidFill>
                <a:latin typeface="Fredoka"/>
                <a:ea typeface="Fredoka"/>
                <a:cs typeface="Fredoka"/>
                <a:sym typeface="Fredoka"/>
              </a:rPr>
              <a:t>terprétation</a:t>
            </a:r>
            <a:r>
              <a:rPr lang="en-US" sz="2744">
                <a:solidFill>
                  <a:srgbClr val="FFFFFF"/>
                </a:solidFill>
                <a:latin typeface="Fredoka"/>
                <a:ea typeface="Fredoka"/>
                <a:cs typeface="Fredoka"/>
                <a:sym typeface="Fredoka"/>
              </a:rPr>
              <a:t> :</a:t>
            </a:r>
            <a:r>
              <a:rPr lang="en-US" sz="2744">
                <a:solidFill>
                  <a:srgbClr val="FFFFFF"/>
                </a:solidFill>
                <a:latin typeface="Fredoka"/>
                <a:ea typeface="Fredoka"/>
                <a:cs typeface="Fredoka"/>
                <a:sym typeface="Fredoka"/>
              </a:rPr>
              <a:t> p &gt; 0,05 → pas d’ass</a:t>
            </a:r>
            <a:r>
              <a:rPr lang="en-US" sz="2744">
                <a:solidFill>
                  <a:srgbClr val="FFFFFF"/>
                </a:solidFill>
                <a:latin typeface="Fredoka"/>
                <a:ea typeface="Fredoka"/>
                <a:cs typeface="Fredoka"/>
                <a:sym typeface="Fredoka"/>
              </a:rPr>
              <a:t>o</a:t>
            </a:r>
            <a:r>
              <a:rPr lang="en-US" sz="2744">
                <a:solidFill>
                  <a:srgbClr val="FFFFFF"/>
                </a:solidFill>
                <a:latin typeface="Fredoka"/>
                <a:ea typeface="Fredoka"/>
                <a:cs typeface="Fredoka"/>
                <a:sym typeface="Fredoka"/>
              </a:rPr>
              <a:t>ciation significative entre Drunk et Miscarriage</a:t>
            </a:r>
          </a:p>
          <a:p>
            <a:pPr algn="l">
              <a:lnSpc>
                <a:spcPts val="3842"/>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10475567">
            <a:off x="-676855" y="206920"/>
            <a:ext cx="17201471" cy="12416335"/>
          </a:xfrm>
          <a:custGeom>
            <a:avLst/>
            <a:gdLst/>
            <a:ahLst/>
            <a:cxnLst/>
            <a:rect r="r" b="b" t="t" l="l"/>
            <a:pathLst>
              <a:path h="12416335" w="17201471">
                <a:moveTo>
                  <a:pt x="0" y="0"/>
                </a:moveTo>
                <a:lnTo>
                  <a:pt x="17201471" y="0"/>
                </a:lnTo>
                <a:lnTo>
                  <a:pt x="17201471" y="12416334"/>
                </a:lnTo>
                <a:lnTo>
                  <a:pt x="0" y="12416334"/>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987743">
            <a:off x="1053685" y="-1360593"/>
            <a:ext cx="15808940" cy="13394484"/>
          </a:xfrm>
          <a:custGeom>
            <a:avLst/>
            <a:gdLst/>
            <a:ahLst/>
            <a:cxnLst/>
            <a:rect r="r" b="b" t="t" l="l"/>
            <a:pathLst>
              <a:path h="13394484" w="15808940">
                <a:moveTo>
                  <a:pt x="0" y="0"/>
                </a:moveTo>
                <a:lnTo>
                  <a:pt x="15808940" y="0"/>
                </a:lnTo>
                <a:lnTo>
                  <a:pt x="15808940" y="13394484"/>
                </a:lnTo>
                <a:lnTo>
                  <a:pt x="0" y="13394484"/>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25558" y="778517"/>
            <a:ext cx="1397243" cy="1135842"/>
          </a:xfrm>
          <a:custGeom>
            <a:avLst/>
            <a:gdLst/>
            <a:ahLst/>
            <a:cxnLst/>
            <a:rect r="r" b="b" t="t" l="l"/>
            <a:pathLst>
              <a:path h="1135842" w="1397243">
                <a:moveTo>
                  <a:pt x="0" y="0"/>
                </a:moveTo>
                <a:lnTo>
                  <a:pt x="1397243" y="0"/>
                </a:lnTo>
                <a:lnTo>
                  <a:pt x="1397243" y="1135842"/>
                </a:lnTo>
                <a:lnTo>
                  <a:pt x="0" y="11358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42890" y="2920925"/>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4626" y="9754108"/>
            <a:ext cx="1807620" cy="1028700"/>
          </a:xfrm>
          <a:custGeom>
            <a:avLst/>
            <a:gdLst/>
            <a:ahLst/>
            <a:cxnLst/>
            <a:rect r="r" b="b" t="t" l="l"/>
            <a:pathLst>
              <a:path h="1028700" w="1807620">
                <a:moveTo>
                  <a:pt x="0" y="0"/>
                </a:moveTo>
                <a:lnTo>
                  <a:pt x="1807620" y="0"/>
                </a:lnTo>
                <a:lnTo>
                  <a:pt x="1807620" y="1028700"/>
                </a:lnTo>
                <a:lnTo>
                  <a:pt x="0" y="1028700"/>
                </a:lnTo>
                <a:lnTo>
                  <a:pt x="0" y="0"/>
                </a:lnTo>
                <a:close/>
              </a:path>
            </a:pathLst>
          </a:custGeom>
          <a:blipFill>
            <a:blip r:embed="rId8">
              <a:alphaModFix amt="54000"/>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674233" y="3048274"/>
            <a:ext cx="5649947" cy="5303020"/>
          </a:xfrm>
          <a:custGeom>
            <a:avLst/>
            <a:gdLst/>
            <a:ahLst/>
            <a:cxnLst/>
            <a:rect r="r" b="b" t="t" l="l"/>
            <a:pathLst>
              <a:path h="5303020" w="5649947">
                <a:moveTo>
                  <a:pt x="0" y="0"/>
                </a:moveTo>
                <a:lnTo>
                  <a:pt x="5649947" y="0"/>
                </a:lnTo>
                <a:lnTo>
                  <a:pt x="5649947" y="5303021"/>
                </a:lnTo>
                <a:lnTo>
                  <a:pt x="0" y="5303021"/>
                </a:lnTo>
                <a:lnTo>
                  <a:pt x="0" y="0"/>
                </a:lnTo>
                <a:close/>
              </a:path>
            </a:pathLst>
          </a:custGeom>
          <a:blipFill>
            <a:blip r:embed="rId10"/>
            <a:stretch>
              <a:fillRect l="0" t="0" r="0" b="0"/>
            </a:stretch>
          </a:blipFill>
        </p:spPr>
      </p:sp>
      <p:sp>
        <p:nvSpPr>
          <p:cNvPr name="TextBox 8" id="8"/>
          <p:cNvSpPr txBox="true"/>
          <p:nvPr/>
        </p:nvSpPr>
        <p:spPr>
          <a:xfrm rot="0">
            <a:off x="1164876" y="937337"/>
            <a:ext cx="12499904" cy="1623691"/>
          </a:xfrm>
          <a:prstGeom prst="rect">
            <a:avLst/>
          </a:prstGeom>
        </p:spPr>
        <p:txBody>
          <a:bodyPr anchor="t" rtlCol="false" tIns="0" lIns="0" bIns="0" rIns="0">
            <a:spAutoFit/>
          </a:bodyPr>
          <a:lstStyle/>
          <a:p>
            <a:pPr algn="l">
              <a:lnSpc>
                <a:spcPts val="6580"/>
              </a:lnSpc>
            </a:pPr>
            <a:r>
              <a:rPr lang="en-US" sz="4700">
                <a:solidFill>
                  <a:srgbClr val="FFFFFF"/>
                </a:solidFill>
                <a:latin typeface="Fredoka"/>
                <a:ea typeface="Fredoka"/>
                <a:cs typeface="Fredoka"/>
                <a:sym typeface="Fredoka"/>
              </a:rPr>
              <a:t>8.EDA Bivariée - Corrélations</a:t>
            </a:r>
          </a:p>
          <a:p>
            <a:pPr algn="l">
              <a:lnSpc>
                <a:spcPts val="6580"/>
              </a:lnSpc>
            </a:pPr>
          </a:p>
        </p:txBody>
      </p:sp>
      <p:sp>
        <p:nvSpPr>
          <p:cNvPr name="TextBox 9" id="9"/>
          <p:cNvSpPr txBox="true"/>
          <p:nvPr/>
        </p:nvSpPr>
        <p:spPr>
          <a:xfrm rot="0">
            <a:off x="1778326" y="2531151"/>
            <a:ext cx="8404480" cy="6280117"/>
          </a:xfrm>
          <a:prstGeom prst="rect">
            <a:avLst/>
          </a:prstGeom>
        </p:spPr>
        <p:txBody>
          <a:bodyPr anchor="t" rtlCol="false" tIns="0" lIns="0" bIns="0" rIns="0">
            <a:spAutoFit/>
          </a:bodyPr>
          <a:lstStyle/>
          <a:p>
            <a:pPr algn="l" marL="592522" indent="-296261" lvl="1">
              <a:lnSpc>
                <a:spcPts val="3842"/>
              </a:lnSpc>
              <a:buFont typeface="Arial"/>
              <a:buChar char="•"/>
            </a:pPr>
            <a:r>
              <a:rPr lang="en-US" sz="2744">
                <a:solidFill>
                  <a:srgbClr val="FFFFFF"/>
                </a:solidFill>
                <a:latin typeface="Fredoka"/>
                <a:ea typeface="Fredoka"/>
                <a:cs typeface="Fredoka"/>
                <a:sym typeface="Fredoka"/>
              </a:rPr>
              <a:t>Analyse bivariée – Corrélations (variables numériques)</a:t>
            </a:r>
          </a:p>
          <a:p>
            <a:pPr algn="l" marL="592522" indent="-296261" lvl="1">
              <a:lnSpc>
                <a:spcPts val="3842"/>
              </a:lnSpc>
              <a:buFont typeface="Arial"/>
              <a:buChar char="•"/>
            </a:pPr>
            <a:r>
              <a:rPr lang="en-US" sz="2744">
                <a:solidFill>
                  <a:srgbClr val="FFFFFF"/>
                </a:solidFill>
                <a:latin typeface="Fredoka"/>
                <a:ea typeface="Fredoka"/>
                <a:cs typeface="Fredoka"/>
                <a:sym typeface="Fredoka"/>
              </a:rPr>
              <a:t>Corrélation de Pearson : mesure la force et la direction d’une relation linéaire (-1 à 1)</a:t>
            </a:r>
          </a:p>
          <a:p>
            <a:pPr algn="l" marL="592522" indent="-296261" lvl="1">
              <a:lnSpc>
                <a:spcPts val="3842"/>
              </a:lnSpc>
              <a:buFont typeface="Arial"/>
              <a:buChar char="•"/>
            </a:pPr>
            <a:r>
              <a:rPr lang="en-US" sz="2744">
                <a:solidFill>
                  <a:srgbClr val="FFFFFF"/>
                </a:solidFill>
                <a:latin typeface="Fredoka"/>
                <a:ea typeface="Fredoka"/>
                <a:cs typeface="Fredoka"/>
                <a:sym typeface="Fredoka"/>
              </a:rPr>
              <a:t>Observations :</a:t>
            </a:r>
          </a:p>
          <a:p>
            <a:pPr algn="l" marL="592522" indent="-296261" lvl="1">
              <a:lnSpc>
                <a:spcPts val="3842"/>
              </a:lnSpc>
              <a:buFont typeface="Arial"/>
              <a:buChar char="•"/>
            </a:pPr>
            <a:r>
              <a:rPr lang="en-US" sz="2744">
                <a:solidFill>
                  <a:srgbClr val="FFFFFF"/>
                </a:solidFill>
                <a:latin typeface="Fredoka"/>
                <a:ea typeface="Fredoka"/>
                <a:cs typeface="Fredoka"/>
                <a:sym typeface="Fredoka"/>
              </a:rPr>
              <a:t>Age, BMI, Nmisc, temp, Alcohol_Consumption → corréla</a:t>
            </a:r>
            <a:r>
              <a:rPr lang="en-US" sz="2744">
                <a:solidFill>
                  <a:srgbClr val="FFFFFF"/>
                </a:solidFill>
                <a:latin typeface="Fredoka"/>
                <a:ea typeface="Fredoka"/>
                <a:cs typeface="Fredoka"/>
                <a:sym typeface="Fredoka"/>
              </a:rPr>
              <a:t>tions ≈ 0 →</a:t>
            </a:r>
            <a:r>
              <a:rPr lang="en-US" sz="2744">
                <a:solidFill>
                  <a:srgbClr val="FFFFFF"/>
                </a:solidFill>
                <a:latin typeface="Fredoka"/>
                <a:ea typeface="Fredoka"/>
                <a:cs typeface="Fredoka"/>
                <a:sym typeface="Fredoka"/>
              </a:rPr>
              <a:t> pas de lien linéaire</a:t>
            </a:r>
          </a:p>
          <a:p>
            <a:pPr algn="l" marL="592522" indent="-296261" lvl="1">
              <a:lnSpc>
                <a:spcPts val="3842"/>
              </a:lnSpc>
              <a:buFont typeface="Arial"/>
              <a:buChar char="•"/>
            </a:pPr>
            <a:r>
              <a:rPr lang="en-US" sz="2744">
                <a:solidFill>
                  <a:srgbClr val="FFFFFF"/>
                </a:solidFill>
                <a:latin typeface="Fredoka"/>
                <a:ea typeface="Fredoka"/>
                <a:cs typeface="Fredoka"/>
                <a:sym typeface="Fredoka"/>
              </a:rPr>
              <a:t>bpm et bp → corrélation</a:t>
            </a:r>
            <a:r>
              <a:rPr lang="en-US" sz="2744">
                <a:solidFill>
                  <a:srgbClr val="FFFFFF"/>
                </a:solidFill>
                <a:latin typeface="Fredoka"/>
                <a:ea typeface="Fredoka"/>
                <a:cs typeface="Fredoka"/>
                <a:sym typeface="Fredoka"/>
              </a:rPr>
              <a:t> ≈</a:t>
            </a:r>
            <a:r>
              <a:rPr lang="en-US" sz="2744">
                <a:solidFill>
                  <a:srgbClr val="FFFFFF"/>
                </a:solidFill>
                <a:latin typeface="Fredoka"/>
                <a:ea typeface="Fredoka"/>
                <a:cs typeface="Fredoka"/>
                <a:sym typeface="Fredoka"/>
              </a:rPr>
              <a:t> 0,90 → f</a:t>
            </a:r>
            <a:r>
              <a:rPr lang="en-US" sz="2744">
                <a:solidFill>
                  <a:srgbClr val="FFFFFF"/>
                </a:solidFill>
                <a:latin typeface="Fredoka"/>
                <a:ea typeface="Fredoka"/>
                <a:cs typeface="Fredoka"/>
                <a:sym typeface="Fredoka"/>
              </a:rPr>
              <a:t>orte rel</a:t>
            </a:r>
            <a:r>
              <a:rPr lang="en-US" sz="2744">
                <a:solidFill>
                  <a:srgbClr val="FFFFFF"/>
                </a:solidFill>
                <a:latin typeface="Fredoka"/>
                <a:ea typeface="Fredoka"/>
                <a:cs typeface="Fredoka"/>
                <a:sym typeface="Fredoka"/>
              </a:rPr>
              <a:t>ation positive</a:t>
            </a:r>
          </a:p>
          <a:p>
            <a:pPr algn="l" marL="592522" indent="-296261" lvl="1">
              <a:lnSpc>
                <a:spcPts val="3842"/>
              </a:lnSpc>
              <a:buFont typeface="Arial"/>
              <a:buChar char="•"/>
            </a:pPr>
            <a:r>
              <a:rPr lang="en-US" sz="2744">
                <a:solidFill>
                  <a:srgbClr val="FFFFFF"/>
                </a:solidFill>
                <a:latin typeface="Fredoka"/>
                <a:ea typeface="Fredoka"/>
                <a:cs typeface="Fredoka"/>
                <a:sym typeface="Fredoka"/>
              </a:rPr>
              <a:t>Conclusion : sauf bpm/bp, les variables numériques sont linéairement indépendantes → simplifie certaines analyses/modélisations</a:t>
            </a:r>
          </a:p>
          <a:p>
            <a:pPr algn="l">
              <a:lnSpc>
                <a:spcPts val="3842"/>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0">
            <a:off x="4272750" y="-1185886"/>
            <a:ext cx="17240730" cy="14607600"/>
          </a:xfrm>
          <a:custGeom>
            <a:avLst/>
            <a:gdLst/>
            <a:ahLst/>
            <a:cxnLst/>
            <a:rect r="r" b="b" t="t" l="l"/>
            <a:pathLst>
              <a:path h="14607600" w="17240730">
                <a:moveTo>
                  <a:pt x="0" y="0"/>
                </a:moveTo>
                <a:lnTo>
                  <a:pt x="17240730" y="0"/>
                </a:lnTo>
                <a:lnTo>
                  <a:pt x="17240730" y="14607600"/>
                </a:lnTo>
                <a:lnTo>
                  <a:pt x="0" y="1460760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022137">
            <a:off x="3114542" y="536167"/>
            <a:ext cx="16723353" cy="12071220"/>
          </a:xfrm>
          <a:custGeom>
            <a:avLst/>
            <a:gdLst/>
            <a:ahLst/>
            <a:cxnLst/>
            <a:rect r="r" b="b" t="t" l="l"/>
            <a:pathLst>
              <a:path h="12071220" w="16723353">
                <a:moveTo>
                  <a:pt x="0" y="0"/>
                </a:moveTo>
                <a:lnTo>
                  <a:pt x="16723353" y="0"/>
                </a:lnTo>
                <a:lnTo>
                  <a:pt x="16723353" y="12071220"/>
                </a:lnTo>
                <a:lnTo>
                  <a:pt x="0" y="12071220"/>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146248"/>
            <a:ext cx="5968328" cy="8283627"/>
          </a:xfrm>
          <a:custGeom>
            <a:avLst/>
            <a:gdLst/>
            <a:ahLst/>
            <a:cxnLst/>
            <a:rect r="r" b="b" t="t" l="l"/>
            <a:pathLst>
              <a:path h="8283627" w="5968328">
                <a:moveTo>
                  <a:pt x="0" y="0"/>
                </a:moveTo>
                <a:lnTo>
                  <a:pt x="5968328" y="0"/>
                </a:lnTo>
                <a:lnTo>
                  <a:pt x="5968328" y="8283627"/>
                </a:lnTo>
                <a:lnTo>
                  <a:pt x="0" y="8283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6878511" y="2214912"/>
            <a:ext cx="9238930" cy="1335405"/>
          </a:xfrm>
          <a:prstGeom prst="rect">
            <a:avLst/>
          </a:prstGeom>
        </p:spPr>
        <p:txBody>
          <a:bodyPr anchor="t" rtlCol="false" tIns="0" lIns="0" bIns="0" rIns="0">
            <a:spAutoFit/>
          </a:bodyPr>
          <a:lstStyle/>
          <a:p>
            <a:pPr algn="just">
              <a:lnSpc>
                <a:spcPts val="10919"/>
              </a:lnSpc>
            </a:pPr>
            <a:r>
              <a:rPr lang="en-US" sz="7800">
                <a:solidFill>
                  <a:srgbClr val="FFFFFF"/>
                </a:solidFill>
                <a:latin typeface="Fredoka"/>
                <a:ea typeface="Fredoka"/>
                <a:cs typeface="Fredoka"/>
                <a:sym typeface="Fredoka"/>
              </a:rPr>
              <a:t>9.Conclusion</a:t>
            </a:r>
          </a:p>
        </p:txBody>
      </p:sp>
      <p:sp>
        <p:nvSpPr>
          <p:cNvPr name="TextBox 6" id="6"/>
          <p:cNvSpPr txBox="true"/>
          <p:nvPr/>
        </p:nvSpPr>
        <p:spPr>
          <a:xfrm rot="0">
            <a:off x="7577133" y="3775360"/>
            <a:ext cx="9756491" cy="4958728"/>
          </a:xfrm>
          <a:prstGeom prst="rect">
            <a:avLst/>
          </a:prstGeom>
        </p:spPr>
        <p:txBody>
          <a:bodyPr anchor="t" rtlCol="false" tIns="0" lIns="0" bIns="0" rIns="0">
            <a:spAutoFit/>
          </a:bodyPr>
          <a:lstStyle/>
          <a:p>
            <a:pPr algn="just" marL="679972" indent="-339986" lvl="1">
              <a:lnSpc>
                <a:spcPts val="4409"/>
              </a:lnSpc>
              <a:buFont typeface="Arial"/>
              <a:buChar char="•"/>
            </a:pPr>
            <a:r>
              <a:rPr lang="en-US" b="true" sz="3149">
                <a:solidFill>
                  <a:srgbClr val="FFFFFF"/>
                </a:solidFill>
                <a:latin typeface="Montserrat Semi-Bold"/>
                <a:ea typeface="Montserrat Semi-Bold"/>
                <a:cs typeface="Montserrat Semi-Bold"/>
                <a:sym typeface="Montserrat Semi-Bold"/>
              </a:rPr>
              <a:t>Dataset complet et fiable (peu de doublons, pas de valeurs manquantes)</a:t>
            </a:r>
          </a:p>
          <a:p>
            <a:pPr algn="just" marL="679972" indent="-339986" lvl="1">
              <a:lnSpc>
                <a:spcPts val="4409"/>
              </a:lnSpc>
              <a:buFont typeface="Arial"/>
              <a:buChar char="•"/>
            </a:pPr>
            <a:r>
              <a:rPr lang="en-US" b="true" sz="3149">
                <a:solidFill>
                  <a:srgbClr val="FFFFFF"/>
                </a:solidFill>
                <a:latin typeface="Montserrat Semi-Bold"/>
                <a:ea typeface="Montserrat Semi-Bold"/>
                <a:cs typeface="Montserrat Semi-Bold"/>
                <a:sym typeface="Montserrat Semi-Bold"/>
              </a:rPr>
              <a:t>Age légèrement associé au risque de fausse couche</a:t>
            </a:r>
          </a:p>
          <a:p>
            <a:pPr algn="just" marL="679972" indent="-339986" lvl="1">
              <a:lnSpc>
                <a:spcPts val="4409"/>
              </a:lnSpc>
              <a:buFont typeface="Arial"/>
              <a:buChar char="•"/>
            </a:pPr>
            <a:r>
              <a:rPr lang="en-US" b="true" sz="3149">
                <a:solidFill>
                  <a:srgbClr val="FFFFFF"/>
                </a:solidFill>
                <a:latin typeface="Montserrat Semi-Bold"/>
                <a:ea typeface="Montserrat Semi-Bold"/>
                <a:cs typeface="Montserrat Semi-Bold"/>
                <a:sym typeface="Montserrat Semi-Bold"/>
              </a:rPr>
              <a:t>Autres variables et corrélations faibles → variables largement indépendantes</a:t>
            </a:r>
          </a:p>
          <a:p>
            <a:pPr algn="just" marL="679972" indent="-339986" lvl="1">
              <a:lnSpc>
                <a:spcPts val="4409"/>
              </a:lnSpc>
              <a:buFont typeface="Arial"/>
              <a:buChar char="•"/>
            </a:pPr>
            <a:r>
              <a:rPr lang="en-US" b="true" sz="3149">
                <a:solidFill>
                  <a:srgbClr val="FFFFFF"/>
                </a:solidFill>
                <a:latin typeface="Montserrat Semi-Bold"/>
                <a:ea typeface="Montserrat Semi-Bold"/>
                <a:cs typeface="Montserrat Semi-Bold"/>
                <a:sym typeface="Montserrat Semi-Bold"/>
              </a:rPr>
              <a:t>Base prête pour analyses détaillées et modélisation prédictive</a:t>
            </a:r>
          </a:p>
          <a:p>
            <a:pPr algn="just">
              <a:lnSpc>
                <a:spcPts val="4409"/>
              </a:lnSpc>
            </a:pPr>
          </a:p>
        </p:txBody>
      </p:sp>
      <p:sp>
        <p:nvSpPr>
          <p:cNvPr name="Freeform 7" id="7"/>
          <p:cNvSpPr/>
          <p:nvPr/>
        </p:nvSpPr>
        <p:spPr>
          <a:xfrm flipH="false" flipV="false" rot="0">
            <a:off x="6179889" y="1578327"/>
            <a:ext cx="1397243" cy="1135842"/>
          </a:xfrm>
          <a:custGeom>
            <a:avLst/>
            <a:gdLst/>
            <a:ahLst/>
            <a:cxnLst/>
            <a:rect r="r" b="b" t="t" l="l"/>
            <a:pathLst>
              <a:path h="1135842" w="1397243">
                <a:moveTo>
                  <a:pt x="0" y="0"/>
                </a:moveTo>
                <a:lnTo>
                  <a:pt x="1397244" y="0"/>
                </a:lnTo>
                <a:lnTo>
                  <a:pt x="1397244" y="1135842"/>
                </a:lnTo>
                <a:lnTo>
                  <a:pt x="0" y="11358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7060474" y="0"/>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81429" y="2367312"/>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973623" y="698574"/>
            <a:ext cx="1227526" cy="698574"/>
          </a:xfrm>
          <a:custGeom>
            <a:avLst/>
            <a:gdLst/>
            <a:ahLst/>
            <a:cxnLst/>
            <a:rect r="r" b="b" t="t" l="l"/>
            <a:pathLst>
              <a:path h="698574" w="1227526">
                <a:moveTo>
                  <a:pt x="0" y="0"/>
                </a:moveTo>
                <a:lnTo>
                  <a:pt x="1227526" y="0"/>
                </a:lnTo>
                <a:lnTo>
                  <a:pt x="1227526" y="698574"/>
                </a:lnTo>
                <a:lnTo>
                  <a:pt x="0" y="698574"/>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385EA3"/>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55213" y="-695980"/>
            <a:ext cx="12808520" cy="10852310"/>
          </a:xfrm>
          <a:custGeom>
            <a:avLst/>
            <a:gdLst/>
            <a:ahLst/>
            <a:cxnLst/>
            <a:rect r="r" b="b" t="t" l="l"/>
            <a:pathLst>
              <a:path h="10852310" w="12808520">
                <a:moveTo>
                  <a:pt x="0" y="0"/>
                </a:moveTo>
                <a:lnTo>
                  <a:pt x="12808520" y="0"/>
                </a:lnTo>
                <a:lnTo>
                  <a:pt x="12808520" y="10852310"/>
                </a:lnTo>
                <a:lnTo>
                  <a:pt x="0" y="1085231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7506">
            <a:off x="-3670274" y="-3072317"/>
            <a:ext cx="16838642" cy="12154438"/>
          </a:xfrm>
          <a:custGeom>
            <a:avLst/>
            <a:gdLst/>
            <a:ahLst/>
            <a:cxnLst/>
            <a:rect r="r" b="b" t="t" l="l"/>
            <a:pathLst>
              <a:path h="12154438" w="16838642">
                <a:moveTo>
                  <a:pt x="0" y="0"/>
                </a:moveTo>
                <a:lnTo>
                  <a:pt x="16838642" y="0"/>
                </a:lnTo>
                <a:lnTo>
                  <a:pt x="16838642" y="12154438"/>
                </a:lnTo>
                <a:lnTo>
                  <a:pt x="0" y="12154438"/>
                </a:lnTo>
                <a:lnTo>
                  <a:pt x="0"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144000" y="610644"/>
            <a:ext cx="9144000" cy="9676356"/>
          </a:xfrm>
          <a:custGeom>
            <a:avLst/>
            <a:gdLst/>
            <a:ahLst/>
            <a:cxnLst/>
            <a:rect r="r" b="b" t="t" l="l"/>
            <a:pathLst>
              <a:path h="9676356" w="9144000">
                <a:moveTo>
                  <a:pt x="0" y="0"/>
                </a:moveTo>
                <a:lnTo>
                  <a:pt x="9144000" y="0"/>
                </a:lnTo>
                <a:lnTo>
                  <a:pt x="9144000" y="9676356"/>
                </a:lnTo>
                <a:lnTo>
                  <a:pt x="0" y="9676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520009" y="2834279"/>
            <a:ext cx="8725954" cy="4096592"/>
          </a:xfrm>
          <a:prstGeom prst="rect">
            <a:avLst/>
          </a:prstGeom>
        </p:spPr>
        <p:txBody>
          <a:bodyPr anchor="t" rtlCol="false" tIns="0" lIns="0" bIns="0" rIns="0">
            <a:spAutoFit/>
          </a:bodyPr>
          <a:lstStyle/>
          <a:p>
            <a:pPr algn="l">
              <a:lnSpc>
                <a:spcPts val="15828"/>
              </a:lnSpc>
            </a:pPr>
            <a:r>
              <a:rPr lang="en-US" sz="15828">
                <a:solidFill>
                  <a:srgbClr val="FFFFFF"/>
                </a:solidFill>
                <a:latin typeface="Fredoka"/>
                <a:ea typeface="Fredoka"/>
                <a:cs typeface="Fredoka"/>
                <a:sym typeface="Fredoka"/>
              </a:rPr>
              <a:t>THANK</a:t>
            </a:r>
          </a:p>
          <a:p>
            <a:pPr algn="l">
              <a:lnSpc>
                <a:spcPts val="15828"/>
              </a:lnSpc>
            </a:pPr>
            <a:r>
              <a:rPr lang="en-US" sz="15828">
                <a:solidFill>
                  <a:srgbClr val="FFFFFF"/>
                </a:solidFill>
                <a:latin typeface="Fredoka"/>
                <a:ea typeface="Fredoka"/>
                <a:cs typeface="Fredoka"/>
                <a:sym typeface="Fredoka"/>
              </a:rPr>
              <a:t>YOU</a:t>
            </a:r>
          </a:p>
        </p:txBody>
      </p:sp>
      <p:sp>
        <p:nvSpPr>
          <p:cNvPr name="Freeform 6" id="6"/>
          <p:cNvSpPr/>
          <p:nvPr/>
        </p:nvSpPr>
        <p:spPr>
          <a:xfrm flipH="false" flipV="false" rot="0">
            <a:off x="6681575" y="4880901"/>
            <a:ext cx="1874050" cy="1523446"/>
          </a:xfrm>
          <a:custGeom>
            <a:avLst/>
            <a:gdLst/>
            <a:ahLst/>
            <a:cxnLst/>
            <a:rect r="r" b="b" t="t" l="l"/>
            <a:pathLst>
              <a:path h="1523446" w="1874050">
                <a:moveTo>
                  <a:pt x="0" y="0"/>
                </a:moveTo>
                <a:lnTo>
                  <a:pt x="1874050" y="0"/>
                </a:lnTo>
                <a:lnTo>
                  <a:pt x="1874050" y="1523446"/>
                </a:lnTo>
                <a:lnTo>
                  <a:pt x="0" y="1523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521520" y="8559726"/>
            <a:ext cx="2455053" cy="1397148"/>
          </a:xfrm>
          <a:custGeom>
            <a:avLst/>
            <a:gdLst/>
            <a:ahLst/>
            <a:cxnLst/>
            <a:rect r="r" b="b" t="t" l="l"/>
            <a:pathLst>
              <a:path h="1397148" w="2455053">
                <a:moveTo>
                  <a:pt x="0" y="0"/>
                </a:moveTo>
                <a:lnTo>
                  <a:pt x="2455053" y="0"/>
                </a:lnTo>
                <a:lnTo>
                  <a:pt x="2455053" y="1397148"/>
                </a:lnTo>
                <a:lnTo>
                  <a:pt x="0" y="1397148"/>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6698277" y="330126"/>
            <a:ext cx="2455053" cy="1397148"/>
          </a:xfrm>
          <a:custGeom>
            <a:avLst/>
            <a:gdLst/>
            <a:ahLst/>
            <a:cxnLst/>
            <a:rect r="r" b="b" t="t" l="l"/>
            <a:pathLst>
              <a:path h="1397148" w="2455053">
                <a:moveTo>
                  <a:pt x="0" y="0"/>
                </a:moveTo>
                <a:lnTo>
                  <a:pt x="2455052" y="0"/>
                </a:lnTo>
                <a:lnTo>
                  <a:pt x="2455052" y="1397148"/>
                </a:lnTo>
                <a:lnTo>
                  <a:pt x="0" y="1397148"/>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844633" y="9423826"/>
            <a:ext cx="1873333" cy="1066097"/>
          </a:xfrm>
          <a:custGeom>
            <a:avLst/>
            <a:gdLst/>
            <a:ahLst/>
            <a:cxnLst/>
            <a:rect r="r" b="b" t="t" l="l"/>
            <a:pathLst>
              <a:path h="1066097" w="1873333">
                <a:moveTo>
                  <a:pt x="0" y="0"/>
                </a:moveTo>
                <a:lnTo>
                  <a:pt x="1873333" y="0"/>
                </a:lnTo>
                <a:lnTo>
                  <a:pt x="1873333" y="1066096"/>
                </a:lnTo>
                <a:lnTo>
                  <a:pt x="0" y="1066096"/>
                </a:lnTo>
                <a:lnTo>
                  <a:pt x="0" y="0"/>
                </a:lnTo>
                <a:close/>
              </a:path>
            </a:pathLst>
          </a:custGeom>
          <a:blipFill>
            <a:blip r:embed="rId10">
              <a:alphaModFix amt="54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DAG8nOwvNtw</dc:identifier>
  <dcterms:modified xsi:type="dcterms:W3CDTF">2011-08-01T06:04:30Z</dcterms:modified>
  <cp:revision>1</cp:revision>
  <dc:title>Blue and White Illustrative Medical Healthcare Presentation</dc:title>
</cp:coreProperties>
</file>